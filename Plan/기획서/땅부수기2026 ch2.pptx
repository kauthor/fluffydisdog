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/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BB6F7CB-F708-ED01-7B34-218CC45D0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711" y="1256147"/>
            <a:ext cx="1390650" cy="1981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C4B3D01-F753-4AB9-ACC0-C4F8A5012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590" y="1256147"/>
            <a:ext cx="139065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3182926" y="1512620"/>
            <a:ext cx="2346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</a:t>
            </a:r>
          </a:p>
          <a:p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07" y="3605242"/>
            <a:ext cx="2886478" cy="233395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3754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태그 점수</a:t>
            </a: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sz="1400" dirty="0"/>
          </a:p>
          <a:p>
            <a:r>
              <a:rPr lang="ko-KR" altLang="en-US" sz="1400" dirty="0"/>
              <a:t>예시</a:t>
            </a:r>
            <a:r>
              <a:rPr lang="en-US" altLang="ko-KR" sz="1400" dirty="0"/>
              <a:t>) </a:t>
            </a:r>
            <a:r>
              <a:rPr lang="ko-KR" altLang="en-US" sz="1400" dirty="0"/>
              <a:t>도구</a:t>
            </a:r>
            <a:r>
              <a:rPr lang="en-US" altLang="ko-KR" sz="1400" dirty="0"/>
              <a:t>/</a:t>
            </a:r>
            <a:r>
              <a:rPr lang="ko-KR" altLang="en-US" sz="1400" dirty="0"/>
              <a:t>황금 태그 카드로 타일 </a:t>
            </a:r>
            <a:r>
              <a:rPr lang="ko-KR" altLang="en-US" sz="1400" dirty="0" err="1"/>
              <a:t>파괴시</a:t>
            </a:r>
            <a:r>
              <a:rPr lang="ko-KR" altLang="en-US" sz="1400" dirty="0"/>
              <a:t> →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파괴 점수</a:t>
            </a:r>
            <a:r>
              <a:rPr lang="en-US" altLang="ko-KR" sz="1400" dirty="0"/>
              <a:t>x</a:t>
            </a:r>
            <a:r>
              <a:rPr lang="ko-KR" altLang="en-US" sz="1400" dirty="0"/>
              <a:t>파괴 배율</a:t>
            </a:r>
            <a:r>
              <a:rPr lang="en-US" altLang="ko-KR" sz="1400" dirty="0"/>
              <a:t>) + (</a:t>
            </a:r>
            <a:r>
              <a:rPr lang="ko-KR" altLang="en-US" sz="1400" dirty="0"/>
              <a:t>도구 점수</a:t>
            </a:r>
            <a:r>
              <a:rPr lang="en-US" altLang="ko-KR" sz="1400" dirty="0"/>
              <a:t>x</a:t>
            </a:r>
            <a:r>
              <a:rPr lang="ko-KR" altLang="en-US" sz="1400" dirty="0"/>
              <a:t>도구 배율</a:t>
            </a:r>
            <a:r>
              <a:rPr lang="en-US" altLang="ko-KR" sz="1400" dirty="0"/>
              <a:t>) +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황금 점수</a:t>
            </a:r>
            <a:r>
              <a:rPr lang="en-US" altLang="ko-KR" sz="1400" dirty="0"/>
              <a:t>x</a:t>
            </a:r>
            <a:r>
              <a:rPr lang="ko-KR" altLang="en-US" sz="1400" dirty="0"/>
              <a:t>황금 배율</a:t>
            </a:r>
            <a:r>
              <a:rPr lang="en-US" altLang="ko-KR" sz="1400" dirty="0"/>
              <a:t>) </a:t>
            </a:r>
            <a:r>
              <a:rPr lang="ko-KR" altLang="en-US" sz="1400" dirty="0"/>
              <a:t>에 해당하는 점수 획득</a:t>
            </a:r>
            <a:endParaRPr lang="en-US" altLang="ko-KR" sz="1400" dirty="0"/>
          </a:p>
          <a:p>
            <a:endParaRPr lang="en-US" altLang="ko-KR" b="1" dirty="0"/>
          </a:p>
          <a:p>
            <a:r>
              <a:rPr lang="ko-KR" altLang="en-US" b="1" dirty="0"/>
              <a:t>타일 점수</a:t>
            </a:r>
            <a:r>
              <a:rPr lang="en-US" altLang="ko-KR" b="1" dirty="0"/>
              <a:t>(</a:t>
            </a:r>
            <a:r>
              <a:rPr lang="ko-KR" altLang="en-US" b="1" dirty="0"/>
              <a:t>우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ko-KR" altLang="en-US" sz="1400" dirty="0"/>
              <a:t>파괴 점수 </a:t>
            </a:r>
            <a:r>
              <a:rPr lang="en-US" altLang="ko-KR" sz="1400" dirty="0"/>
              <a:t>– </a:t>
            </a:r>
            <a:r>
              <a:rPr lang="ko-KR" altLang="en-US" sz="1400" dirty="0"/>
              <a:t>태그가 없으면 파괴</a:t>
            </a:r>
            <a:r>
              <a:rPr lang="en-US" altLang="ko-KR" sz="1400" dirty="0"/>
              <a:t>(</a:t>
            </a:r>
            <a:r>
              <a:rPr lang="ko-KR" altLang="en-US" sz="1400" dirty="0"/>
              <a:t>기본</a:t>
            </a:r>
            <a:r>
              <a:rPr lang="en-US" altLang="ko-KR" sz="1400" dirty="0"/>
              <a:t>) </a:t>
            </a:r>
            <a:r>
              <a:rPr lang="ko-KR" altLang="en-US" sz="1400" dirty="0"/>
              <a:t>점수</a:t>
            </a:r>
            <a:br>
              <a:rPr lang="en-US" altLang="ko-KR" sz="1400" dirty="0"/>
            </a:br>
            <a:r>
              <a:rPr lang="en-US" altLang="ko-KR" sz="1400" dirty="0"/>
              <a:t> </a:t>
            </a:r>
            <a:r>
              <a:rPr lang="ko-KR" altLang="en-US" sz="1400" dirty="0"/>
              <a:t>태그가 있으면 해당 태그 파괴 점수를 모두 별개로 이행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A9DCB5-5326-FDB7-5244-C99E8F91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209" y="109181"/>
            <a:ext cx="3073442" cy="34163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C2F7C35-5C14-0EDC-CE50-AA667DBDC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344" y="109181"/>
            <a:ext cx="3294537" cy="341632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4AC5D4E-B62E-0DAB-A6A9-B560FDA55849}"/>
              </a:ext>
            </a:extLst>
          </p:cNvPr>
          <p:cNvCxnSpPr>
            <a:stCxn id="10" idx="3"/>
          </p:cNvCxnSpPr>
          <p:nvPr/>
        </p:nvCxnSpPr>
        <p:spPr>
          <a:xfrm flipV="1">
            <a:off x="2900218" y="2096655"/>
            <a:ext cx="2493818" cy="7989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51361A5-4BFB-D96C-11B9-79D004590071}"/>
              </a:ext>
            </a:extLst>
          </p:cNvPr>
          <p:cNvSpPr txBox="1"/>
          <p:nvPr/>
        </p:nvSpPr>
        <p:spPr>
          <a:xfrm>
            <a:off x="426507" y="5962298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발라트로의</a:t>
            </a:r>
            <a:r>
              <a:rPr lang="ko-KR" altLang="en-US" dirty="0"/>
              <a:t>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r>
              <a:rPr lang="en-US" altLang="ko-KR" dirty="0"/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32CCBD-85F3-ED11-9AAF-4C36D7E3B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208308"/>
            <a:ext cx="4704551" cy="48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0A2B-26D4-AD7F-C557-396614E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ECB721-BB18-379E-C1BA-4DD47293883B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보상 </a:t>
            </a:r>
            <a:r>
              <a:rPr lang="ko-KR" altLang="en-US" b="1" dirty="0" err="1"/>
              <a:t>획득창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566841-0C93-82B5-9098-17106208D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025236"/>
            <a:ext cx="5378131" cy="3013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B2FF99-9681-09CD-E15E-29997E140955}"/>
              </a:ext>
            </a:extLst>
          </p:cNvPr>
          <p:cNvSpPr txBox="1"/>
          <p:nvPr/>
        </p:nvSpPr>
        <p:spPr>
          <a:xfrm>
            <a:off x="6096000" y="563419"/>
            <a:ext cx="563254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등장하게 되면서 변경된 점</a:t>
            </a:r>
            <a:endParaRPr lang="en-US" altLang="ko-KR" b="1" dirty="0"/>
          </a:p>
          <a:p>
            <a:r>
              <a:rPr lang="ko-KR" altLang="en-US" dirty="0"/>
              <a:t> 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</a:t>
            </a:r>
            <a:r>
              <a:rPr lang="ko-KR" altLang="en-US" dirty="0"/>
              <a:t>이 추가되어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누르면 보상 선택 </a:t>
            </a:r>
            <a:r>
              <a:rPr lang="en-US" altLang="ko-KR" dirty="0"/>
              <a:t>UI</a:t>
            </a:r>
            <a:r>
              <a:rPr lang="ko-KR" altLang="en-US" dirty="0"/>
              <a:t>가 전체적으로 아래로 내려가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게임 진행 화면을 살펴볼 수 있게 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짝을 이루는 △버튼이 있어 다시 펼칠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손패 정도만 살펴볼 수 있고 게임 진행은 불가능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보</a:t>
            </a:r>
            <a:r>
              <a:rPr lang="ko-KR" altLang="en-US" b="1" dirty="0"/>
              <a:t>상 개수를 여럿 선택 가능하게 되면서</a:t>
            </a:r>
            <a:r>
              <a:rPr lang="en-US" altLang="ko-KR" b="1" dirty="0"/>
              <a:t> </a:t>
            </a:r>
            <a:r>
              <a:rPr lang="ko-KR" altLang="en-US" b="1" dirty="0"/>
              <a:t>변경된 점</a:t>
            </a:r>
            <a:endParaRPr lang="en-US" altLang="ko-KR" b="1" dirty="0"/>
          </a:p>
          <a:p>
            <a:endParaRPr lang="en-US" altLang="ko-KR" dirty="0"/>
          </a:p>
          <a:p>
            <a:r>
              <a:rPr lang="en-US" altLang="ko-KR" dirty="0"/>
              <a:t>Select all</a:t>
            </a:r>
            <a:r>
              <a:rPr lang="ko-KR" altLang="en-US" dirty="0"/>
              <a:t>버튼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선택하기</a:t>
            </a:r>
            <a:r>
              <a:rPr lang="en-US" altLang="ko-KR" dirty="0"/>
              <a:t>/</a:t>
            </a:r>
            <a:r>
              <a:rPr lang="ko-KR" altLang="en-US" dirty="0"/>
              <a:t>취소하기가 마우스 오버에서 표기</a:t>
            </a:r>
            <a:endParaRPr lang="en-US" altLang="ko-KR" dirty="0"/>
          </a:p>
          <a:p>
            <a:r>
              <a:rPr lang="ko-KR" altLang="en-US" dirty="0"/>
              <a:t>선택 기능 추가</a:t>
            </a:r>
            <a:endParaRPr lang="en-US" altLang="ko-KR" dirty="0"/>
          </a:p>
          <a:p>
            <a:r>
              <a:rPr lang="ko-KR" altLang="en-US" dirty="0"/>
              <a:t>선택 가능 카드 수량 표기 </a:t>
            </a:r>
            <a:r>
              <a:rPr lang="en-US" altLang="ko-KR" dirty="0"/>
              <a:t>(n/m)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경고문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6"/>
                </a:solidFill>
              </a:rPr>
              <a:t>그</a:t>
            </a:r>
            <a:r>
              <a:rPr lang="ko-KR" altLang="en-US" b="1" dirty="0"/>
              <a:t>냥 추가된 점</a:t>
            </a:r>
            <a:endParaRPr lang="en-US" altLang="ko-KR" b="1" dirty="0"/>
          </a:p>
          <a:p>
            <a:r>
              <a:rPr lang="ko-KR" altLang="en-US" dirty="0"/>
              <a:t>보상 내용에 골드 추가</a:t>
            </a:r>
            <a:endParaRPr lang="en-US" altLang="ko-KR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A6AB122-6C69-718C-B71F-C30DEA34A767}"/>
              </a:ext>
            </a:extLst>
          </p:cNvPr>
          <p:cNvSpPr/>
          <p:nvPr/>
        </p:nvSpPr>
        <p:spPr>
          <a:xfrm>
            <a:off x="2817090" y="969695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ED584F-D724-9752-4C2C-760207BA3DC2}"/>
              </a:ext>
            </a:extLst>
          </p:cNvPr>
          <p:cNvCxnSpPr>
            <a:stCxn id="7" idx="3"/>
          </p:cNvCxnSpPr>
          <p:nvPr/>
        </p:nvCxnSpPr>
        <p:spPr>
          <a:xfrm>
            <a:off x="3472872" y="1071356"/>
            <a:ext cx="27154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04BCE9-F89B-816E-6138-DB8DF111F980}"/>
              </a:ext>
            </a:extLst>
          </p:cNvPr>
          <p:cNvSpPr/>
          <p:nvPr/>
        </p:nvSpPr>
        <p:spPr>
          <a:xfrm>
            <a:off x="4867563" y="3713018"/>
            <a:ext cx="323273" cy="23090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FF19D31-02B7-7C91-E004-9C7F1D8EDBD0}"/>
              </a:ext>
            </a:extLst>
          </p:cNvPr>
          <p:cNvSpPr/>
          <p:nvPr/>
        </p:nvSpPr>
        <p:spPr>
          <a:xfrm>
            <a:off x="2073563" y="3313547"/>
            <a:ext cx="2134017" cy="6303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9A531E-8A8F-F4B5-7F83-ABAD4580F3D8}"/>
              </a:ext>
            </a:extLst>
          </p:cNvPr>
          <p:cNvSpPr/>
          <p:nvPr/>
        </p:nvSpPr>
        <p:spPr>
          <a:xfrm>
            <a:off x="2812888" y="2410989"/>
            <a:ext cx="1888421" cy="27679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7F57B7-AF40-E7DE-B16D-614A7901BB42}"/>
              </a:ext>
            </a:extLst>
          </p:cNvPr>
          <p:cNvSpPr/>
          <p:nvPr/>
        </p:nvSpPr>
        <p:spPr>
          <a:xfrm>
            <a:off x="3842328" y="1602775"/>
            <a:ext cx="1182254" cy="3830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221AF0-B3E0-7C34-2B6C-7F4BF68C3721}"/>
              </a:ext>
            </a:extLst>
          </p:cNvPr>
          <p:cNvSpPr txBox="1"/>
          <p:nvPr/>
        </p:nvSpPr>
        <p:spPr>
          <a:xfrm>
            <a:off x="336243" y="4200350"/>
            <a:ext cx="563254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기존에는 카드를 한 번 클릭 → 선택하기 문구가 표시 → 한번 더 클릭하여</a:t>
            </a:r>
            <a:endParaRPr lang="en-US" altLang="ko-KR" sz="1200" dirty="0"/>
          </a:p>
          <a:p>
            <a:r>
              <a:rPr lang="ko-KR" altLang="en-US" sz="1200" dirty="0"/>
              <a:t>카드를 선택함과 동시에 다음 화면</a:t>
            </a:r>
            <a:r>
              <a:rPr lang="en-US" altLang="ko-KR" sz="1200" dirty="0"/>
              <a:t>(</a:t>
            </a:r>
            <a:r>
              <a:rPr lang="ko-KR" altLang="en-US" sz="1200" dirty="0"/>
              <a:t>상점</a:t>
            </a:r>
            <a:r>
              <a:rPr lang="en-US" altLang="ko-KR" sz="1200" dirty="0"/>
              <a:t>)</a:t>
            </a:r>
            <a:r>
              <a:rPr lang="ko-KR" altLang="en-US" sz="1200" dirty="0"/>
              <a:t>으로 바로 넘어갔지만</a:t>
            </a:r>
            <a:r>
              <a:rPr lang="en-US" altLang="ko-KR" sz="1200" dirty="0"/>
              <a:t>,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보물 기획을 통해 해당 화면이 보다 자주 등장하게 되면서</a:t>
            </a:r>
            <a:endParaRPr lang="en-US" altLang="ko-KR" sz="1200" dirty="0"/>
          </a:p>
          <a:p>
            <a:r>
              <a:rPr lang="ko-KR" altLang="en-US" sz="1200" dirty="0"/>
              <a:t>여러 카드의 조작을 빠르게 해 넘어갈 수 있도록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카드 선택은 클릭 한번으로 되도록 변경했습니다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동시에 사고율을 줄이기 위해 </a:t>
            </a:r>
            <a:r>
              <a:rPr lang="ko-KR" altLang="en-US" sz="1200" dirty="0" err="1"/>
              <a:t>우하단</a:t>
            </a:r>
            <a:r>
              <a:rPr lang="ko-KR" altLang="en-US" sz="1200" dirty="0"/>
              <a:t> </a:t>
            </a:r>
            <a:r>
              <a:rPr lang="en-US" altLang="ko-KR" sz="1200" dirty="0"/>
              <a:t>next</a:t>
            </a:r>
            <a:r>
              <a:rPr lang="ko-KR" altLang="en-US" sz="1200" dirty="0"/>
              <a:t>를 통해 넘어가도록 변경했습니다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아무 카드도 선택하지 않은 경우 </a:t>
            </a:r>
            <a:r>
              <a:rPr lang="en-US" altLang="ko-KR" sz="1200" dirty="0"/>
              <a:t>skip</a:t>
            </a:r>
            <a:r>
              <a:rPr lang="ko-KR" altLang="en-US" sz="1200" dirty="0"/>
              <a:t>→으로 표기되고</a:t>
            </a:r>
            <a:r>
              <a:rPr lang="en-US" altLang="ko-KR" sz="1200" dirty="0"/>
              <a:t>, </a:t>
            </a:r>
            <a:r>
              <a:rPr lang="ko-KR" altLang="en-US" sz="1200" dirty="0"/>
              <a:t>기능은 동일합니다</a:t>
            </a:r>
            <a:r>
              <a:rPr lang="en-US" altLang="ko-KR" sz="1200" dirty="0"/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※ “Select all”</a:t>
            </a:r>
            <a:r>
              <a:rPr lang="ko-KR" altLang="en-US" sz="1200" dirty="0">
                <a:solidFill>
                  <a:srgbClr val="FF0000"/>
                </a:solidFill>
              </a:rPr>
              <a:t>은 모두 체크될 뿐 다음 화면으로 넘어가지지 않습니다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2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B6D64D-B98E-A16D-C06A-BAF8D4B76DF5}"/>
              </a:ext>
            </a:extLst>
          </p:cNvPr>
          <p:cNvSpPr/>
          <p:nvPr/>
        </p:nvSpPr>
        <p:spPr>
          <a:xfrm>
            <a:off x="1252150" y="1579715"/>
            <a:ext cx="1182255" cy="17338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816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03AC68E-E299-A51C-D536-7E9B7FF1C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52" y="1007051"/>
            <a:ext cx="5319634" cy="2992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D82223-5778-4BED-1CB4-723F9084F492}"/>
              </a:ext>
            </a:extLst>
          </p:cNvPr>
          <p:cNvSpPr txBox="1"/>
          <p:nvPr/>
        </p:nvSpPr>
        <p:spPr>
          <a:xfrm>
            <a:off x="463452" y="56341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이벤트창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F8ECE-C7A4-2FFC-4653-AEB90315523C}"/>
              </a:ext>
            </a:extLst>
          </p:cNvPr>
          <p:cNvSpPr txBox="1"/>
          <p:nvPr/>
        </p:nvSpPr>
        <p:spPr>
          <a:xfrm>
            <a:off x="6096000" y="563419"/>
            <a:ext cx="563254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등장하므로</a:t>
            </a:r>
            <a:endParaRPr lang="en-US" altLang="ko-KR" b="1" dirty="0"/>
          </a:p>
          <a:p>
            <a:r>
              <a:rPr lang="ko-KR" altLang="en-US" dirty="0"/>
              <a:t>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)”,</a:t>
            </a:r>
          </a:p>
          <a:p>
            <a:r>
              <a:rPr lang="ko-KR" altLang="en-US" dirty="0"/>
              <a:t>하단에 덱 보기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기</a:t>
            </a:r>
            <a:r>
              <a:rPr lang="ko-KR" altLang="en-US" b="1" dirty="0"/>
              <a:t>능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이벤트별 이미지 표기</a:t>
            </a:r>
            <a:endParaRPr lang="en-US" altLang="ko-KR" dirty="0"/>
          </a:p>
          <a:p>
            <a:r>
              <a:rPr lang="ko-KR" altLang="en-US" dirty="0"/>
              <a:t>이벤트 내용 표기</a:t>
            </a:r>
            <a:endParaRPr lang="en-US" altLang="ko-KR" dirty="0"/>
          </a:p>
          <a:p>
            <a:r>
              <a:rPr lang="ko-KR" altLang="en-US" dirty="0"/>
              <a:t>내용이 길어지면 스크롤 가능</a:t>
            </a:r>
            <a:endParaRPr lang="en-US" altLang="ko-KR" dirty="0"/>
          </a:p>
          <a:p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/>
              <a:t>예시에선 아니지만 텍스트 최하단에 위치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선택지는 텍스트 내용과 분리된 색상으로 표시</a:t>
            </a:r>
            <a:endParaRPr lang="en-US" altLang="ko-KR" dirty="0"/>
          </a:p>
          <a:p>
            <a:r>
              <a:rPr lang="ko-KR" altLang="en-US" dirty="0"/>
              <a:t>마우스 오버로 강조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조건에 의해 선택 못 하는 선택지는</a:t>
            </a:r>
            <a:endParaRPr lang="en-US" altLang="ko-KR" dirty="0"/>
          </a:p>
          <a:p>
            <a:r>
              <a:rPr lang="ko-KR" altLang="en-US" dirty="0"/>
              <a:t>별개 색상으로 표기하거나 </a:t>
            </a:r>
            <a:r>
              <a:rPr lang="ko-KR" altLang="en-US" strike="sngStrike" dirty="0" err="1"/>
              <a:t>줄처리</a:t>
            </a:r>
            <a:r>
              <a:rPr lang="ko-KR" altLang="en-US" dirty="0"/>
              <a:t> 할 듯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이야기 필요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40800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695</Words>
  <Application>Microsoft Office PowerPoint</Application>
  <PresentationFormat>와이드스크린</PresentationFormat>
  <Paragraphs>115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6</cp:revision>
  <dcterms:created xsi:type="dcterms:W3CDTF">2026-01-12T19:58:29Z</dcterms:created>
  <dcterms:modified xsi:type="dcterms:W3CDTF">2026-04-15T05:05:46Z</dcterms:modified>
</cp:coreProperties>
</file>