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1" r:id="rId6"/>
    <p:sldId id="263" r:id="rId7"/>
    <p:sldId id="262" r:id="rId8"/>
    <p:sldId id="264" r:id="rId9"/>
    <p:sldId id="265" r:id="rId10"/>
    <p:sldId id="260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3E24B9-7E34-44AC-84F3-4EDCA69811A9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0139E7-B41F-44EB-9691-265EF159DE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9356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0139E7-B41F-44EB-9691-265EF159DEB1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2065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895FF-4C37-5809-5296-8A5DF3B85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A7586F9-0A3D-4775-9165-6243010975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066B9F8-FF40-3329-402F-05B1177E34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DD329A-340D-E835-EF90-0563FBA730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0139E7-B41F-44EB-9691-265EF159DEB1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67994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873AE-5298-4E83-4F63-71CCEE92A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E18C6A1-FDAD-BB22-066C-AA30E44E2A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30DA1FB-1AA9-DD53-2ED0-469AC3D21A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9E61C4-1C84-89F4-0796-2840EB7DB2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0139E7-B41F-44EB-9691-265EF159DEB1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65631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2FC52C-51BC-8807-7CBD-38BE7EF6E7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A1B9274-94C6-6397-94FE-D48153D233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7A06DA-0EEB-92D8-6D10-10028AE5D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DF62A-CEF3-4A4B-9978-8C575DC3A030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DB644D-8C91-D65F-3F68-BE623534C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C0FAB0-5423-50E7-7C7F-2D2A825D7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7C0AE-4B3B-41C9-8060-F7B9475BAE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85117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73EB16-EC46-1930-BF50-0E344BF2C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0521C9-E0A2-7DB7-BDD6-6FA8BC140E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A3C1F7-AC3E-2920-A88C-E400F0A66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DF62A-CEF3-4A4B-9978-8C575DC3A030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D87632-26B8-8710-FDBB-1EE54BEC3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A94BF45-CF83-9AAF-C989-DE6FCC696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7C0AE-4B3B-41C9-8060-F7B9475BAE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7085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FD1636-AC19-CC97-23D1-4DA7D731F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1917DA2-3AB4-F16C-817C-A70907BA87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907027-5C37-07F3-1B43-019E15802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DF62A-CEF3-4A4B-9978-8C575DC3A030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5FB8DBF-5490-AACA-5A3D-49641A8F7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AF8193D-2EE7-18D8-90BC-E45719FB9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7C0AE-4B3B-41C9-8060-F7B9475BAE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7376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F401DB-DEAA-22E7-3FBF-6F96D0BC3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AACD5A-5963-ADDF-9D46-B78C0A17C5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2ED062D-4CF7-D447-944F-DB07EDE3C8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633EA4-3F63-0653-4215-2B34CBD59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DF62A-CEF3-4A4B-9978-8C575DC3A030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33CE5CA-F7E5-C265-319C-3D707CADB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D098371-0E47-999F-4166-35FADB446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7C0AE-4B3B-41C9-8060-F7B9475BAE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1413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FDDBE0-56D4-6D7E-0F93-A8A508079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FAD03B-E156-BDF5-A78B-9C3277BB0B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59B20DE-3749-AC01-3207-2664BC68C3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821E1BA-B1B1-962D-B74E-B97D8B89E5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64205A5-DDEC-560C-49C4-13A4E50411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4690FBC-AB7E-588C-2BB2-87DC80C1E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DF62A-CEF3-4A4B-9978-8C575DC3A030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5AAF472-D8CD-0F60-646C-4373B165A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B1136FB-2295-3978-D693-51B44B0DA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7C0AE-4B3B-41C9-8060-F7B9475BAE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8703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31DBC9-453A-A11A-965D-35592C8D1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12E5160-ED96-F7FA-CDAF-EB7544C44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DF62A-CEF3-4A4B-9978-8C575DC3A030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095B22C-8D3B-3591-DBFE-BA035C35A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AD3BF95-426E-504C-3F22-7D6E3B3E0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7C0AE-4B3B-41C9-8060-F7B9475BAE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375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FC915CC-8AC9-C07B-89C9-51FACB76B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DF62A-CEF3-4A4B-9978-8C575DC3A030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1C98CCC-BE3C-3CB9-29B1-7D5D63A1F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410CA7F-BBE4-8E37-2933-37FCFF192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7C0AE-4B3B-41C9-8060-F7B9475BAE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5176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1F851B-A1D3-F4A3-9895-B2302E0B6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47090F-3302-61B9-83A4-7ABC3A45B8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53F9F86-D5D3-69E4-5730-4DD19EC1C8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D746C13-572E-1681-FF05-04B696CC0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DF62A-CEF3-4A4B-9978-8C575DC3A030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721170B-7035-FAA2-F634-59ABA1AB2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8C11BD6-22B5-781E-09FA-BD423A336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7C0AE-4B3B-41C9-8060-F7B9475BAE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835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5CF2BC-0D51-D4DE-3D9D-F9030BFA3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6F426AC-158F-8D3B-7E35-6587F2BAEE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A9212A5-BF44-51E5-8961-20B0E1F8C4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F1B8ABA-90A6-59DD-BC67-6F9F3D1CA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DF62A-CEF3-4A4B-9978-8C575DC3A030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00256D6-17FB-1F99-9584-59EA4E934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5A41C2D-E737-A777-5568-B39BFA0B0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7C0AE-4B3B-41C9-8060-F7B9475BAE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8716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7F8F9D-697C-D810-18B7-B88F6317E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90ADAF7-8F9F-DD79-458C-B135AED151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1F15EED-85CD-86B5-B4F2-0C6A86D5F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DF62A-CEF3-4A4B-9978-8C575DC3A030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1A9CD7-FEE3-EFC1-AE5C-70E4AECBF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75A413-14B6-A2F1-F9D7-74B4529D8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7C0AE-4B3B-41C9-8060-F7B9475BAE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0659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0FB538D-BB1D-9947-01AF-18E0D1A55C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D35231E-D3B5-87AA-1E8A-A7D2067972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C82B3C-C0A0-F903-1237-702C11890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DF62A-CEF3-4A4B-9978-8C575DC3A030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A35CA6-5C05-6676-A34A-2A34144A1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571500-243D-4394-3D8C-549F0AAE7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7C0AE-4B3B-41C9-8060-F7B9475BAE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5491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E6A50DC-F643-3DAD-5236-362636E0D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F2258B4-2416-A725-464B-696E5E6A32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91CC02-A4AF-7335-03CF-697F848D12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FDF62A-CEF3-4A4B-9978-8C575DC3A030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75F3F6-BA18-B586-CC63-9039CF6365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91DFAE-8A24-BF72-9546-ED6BBACBDC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B7C0AE-4B3B-41C9-8060-F7B9475BAE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3471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Relationship Id="rId5" Type="http://schemas.openxmlformats.org/officeDocument/2006/relationships/slide" Target="slide4.xml"/><Relationship Id="rId4" Type="http://schemas.openxmlformats.org/officeDocument/2006/relationships/slide" Target="slide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gif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0.png"/><Relationship Id="rId7" Type="http://schemas.openxmlformats.org/officeDocument/2006/relationships/image" Target="../media/image33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.bin"/><Relationship Id="rId11" Type="http://schemas.openxmlformats.org/officeDocument/2006/relationships/image" Target="../media/image35.emf"/><Relationship Id="rId5" Type="http://schemas.openxmlformats.org/officeDocument/2006/relationships/image" Target="../media/image32.png"/><Relationship Id="rId10" Type="http://schemas.openxmlformats.org/officeDocument/2006/relationships/oleObject" Target="../embeddings/oleObject2.bin"/><Relationship Id="rId4" Type="http://schemas.openxmlformats.org/officeDocument/2006/relationships/image" Target="../media/image31.png"/><Relationship Id="rId9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emf"/><Relationship Id="rId11" Type="http://schemas.openxmlformats.org/officeDocument/2006/relationships/image" Target="../media/image37.emf"/><Relationship Id="rId5" Type="http://schemas.openxmlformats.org/officeDocument/2006/relationships/oleObject" Target="../embeddings/oleObject1.bin"/><Relationship Id="rId10" Type="http://schemas.openxmlformats.org/officeDocument/2006/relationships/oleObject" Target="../embeddings/oleObject3.bin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98A12E9-F9D9-CFEE-2869-AF4705C5E089}"/>
              </a:ext>
            </a:extLst>
          </p:cNvPr>
          <p:cNvSpPr txBox="1"/>
          <p:nvPr/>
        </p:nvSpPr>
        <p:spPr>
          <a:xfrm>
            <a:off x="748145" y="591127"/>
            <a:ext cx="3712876" cy="53553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목차</a:t>
            </a:r>
            <a:endParaRPr lang="en-US" altLang="ko-KR" b="1" dirty="0"/>
          </a:p>
          <a:p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연출</a:t>
            </a:r>
            <a:endParaRPr lang="en-US" altLang="ko-KR" dirty="0"/>
          </a:p>
          <a:p>
            <a:r>
              <a:rPr lang="en-US" altLang="ko-KR" dirty="0"/>
              <a:t>	</a:t>
            </a:r>
            <a:r>
              <a:rPr lang="ko-KR" altLang="en-US" dirty="0"/>
              <a:t>인 게임 </a:t>
            </a:r>
            <a:r>
              <a:rPr lang="en-US" altLang="ko-KR" dirty="0"/>
              <a:t>– </a:t>
            </a:r>
            <a:r>
              <a:rPr lang="ko-KR" altLang="en-US" dirty="0">
                <a:hlinkClick r:id="rId2" action="ppaction://hlinksldjump"/>
              </a:rPr>
              <a:t>타일 타격 연출</a:t>
            </a:r>
            <a:endParaRPr lang="en-US" altLang="ko-KR" dirty="0"/>
          </a:p>
          <a:p>
            <a:r>
              <a:rPr lang="en-US" altLang="ko-KR" dirty="0"/>
              <a:t>	</a:t>
            </a:r>
            <a:r>
              <a:rPr lang="ko-KR" altLang="en-US" dirty="0"/>
              <a:t>인 게임 </a:t>
            </a:r>
            <a:r>
              <a:rPr lang="en-US" altLang="ko-KR" dirty="0"/>
              <a:t>– </a:t>
            </a:r>
            <a:r>
              <a:rPr lang="ko-KR" altLang="en-US" dirty="0">
                <a:hlinkClick r:id="rId3" action="ppaction://hlinksldjump"/>
              </a:rPr>
              <a:t>팝업 접기</a:t>
            </a:r>
            <a:endParaRPr lang="en-US" altLang="ko-KR" dirty="0"/>
          </a:p>
          <a:p>
            <a:r>
              <a:rPr lang="en-US" altLang="ko-KR" dirty="0"/>
              <a:t>	</a:t>
            </a:r>
            <a:r>
              <a:rPr lang="ko-KR" altLang="en-US" dirty="0"/>
              <a:t>상점</a:t>
            </a:r>
            <a:endParaRPr lang="en-US" altLang="ko-KR" dirty="0"/>
          </a:p>
          <a:p>
            <a:r>
              <a:rPr lang="en-US" altLang="ko-KR" dirty="0"/>
              <a:t>	</a:t>
            </a:r>
            <a:r>
              <a:rPr lang="ko-KR" altLang="en-US" dirty="0"/>
              <a:t>상점</a:t>
            </a:r>
            <a:endParaRPr lang="en-US" altLang="ko-KR" dirty="0"/>
          </a:p>
          <a:p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추가 기능</a:t>
            </a:r>
            <a:endParaRPr lang="en-US" altLang="ko-KR" dirty="0"/>
          </a:p>
          <a:p>
            <a:pPr lvl="2"/>
            <a:r>
              <a:rPr lang="ko-KR" altLang="en-US" dirty="0">
                <a:hlinkClick r:id="rId4" action="ppaction://hlinksldjump"/>
              </a:rPr>
              <a:t>점수 </a:t>
            </a:r>
            <a:r>
              <a:rPr lang="ko-KR" altLang="en-US" dirty="0" err="1">
                <a:hlinkClick r:id="rId4" action="ppaction://hlinksldjump"/>
              </a:rPr>
              <a:t>정보표</a:t>
            </a:r>
            <a:r>
              <a:rPr lang="en-US" altLang="ko-KR" dirty="0">
                <a:hlinkClick r:id="rId4" action="ppaction://hlinksldjump"/>
              </a:rPr>
              <a:t>(</a:t>
            </a:r>
            <a:r>
              <a:rPr lang="ko-KR" altLang="en-US" dirty="0">
                <a:hlinkClick r:id="rId4" action="ppaction://hlinksldjump"/>
              </a:rPr>
              <a:t>태그</a:t>
            </a:r>
            <a:r>
              <a:rPr lang="en-US" altLang="ko-KR" dirty="0">
                <a:hlinkClick r:id="rId4" action="ppaction://hlinksldjump"/>
              </a:rPr>
              <a:t>)</a:t>
            </a:r>
            <a:endParaRPr lang="en-US" altLang="ko-KR" dirty="0"/>
          </a:p>
          <a:p>
            <a:pPr lvl="2"/>
            <a:r>
              <a:rPr lang="ko-KR" altLang="en-US" dirty="0">
                <a:hlinkClick r:id="rId5" action="ppaction://hlinksldjump"/>
              </a:rPr>
              <a:t>점수 </a:t>
            </a:r>
            <a:r>
              <a:rPr lang="ko-KR" altLang="en-US" dirty="0" err="1">
                <a:hlinkClick r:id="rId5" action="ppaction://hlinksldjump"/>
              </a:rPr>
              <a:t>정보표</a:t>
            </a:r>
            <a:r>
              <a:rPr lang="en-US" altLang="ko-KR" dirty="0">
                <a:hlinkClick r:id="rId5" action="ppaction://hlinksldjump"/>
              </a:rPr>
              <a:t>(</a:t>
            </a:r>
            <a:r>
              <a:rPr lang="ko-KR" altLang="en-US" dirty="0">
                <a:hlinkClick r:id="rId5" action="ppaction://hlinksldjump"/>
              </a:rPr>
              <a:t>타일</a:t>
            </a:r>
            <a:r>
              <a:rPr lang="en-US" altLang="ko-KR" dirty="0">
                <a:hlinkClick r:id="rId5" action="ppaction://hlinksldjump"/>
              </a:rPr>
              <a:t>)</a:t>
            </a:r>
            <a:endParaRPr lang="en-US" altLang="ko-KR" dirty="0"/>
          </a:p>
          <a:p>
            <a:r>
              <a:rPr lang="en-US" altLang="ko-KR" dirty="0"/>
              <a:t>	</a:t>
            </a:r>
            <a:r>
              <a:rPr lang="ko-KR" altLang="en-US" dirty="0"/>
              <a:t>유물 마우스오버</a:t>
            </a:r>
            <a:endParaRPr lang="en-US" altLang="ko-KR" dirty="0"/>
          </a:p>
          <a:p>
            <a:r>
              <a:rPr lang="en-US" altLang="ko-KR" dirty="0"/>
              <a:t>	</a:t>
            </a:r>
            <a:r>
              <a:rPr lang="ko-KR" altLang="en-US" dirty="0"/>
              <a:t>상점 마우스오버</a:t>
            </a:r>
            <a:endParaRPr lang="en-US" altLang="ko-KR" dirty="0"/>
          </a:p>
          <a:p>
            <a:r>
              <a:rPr lang="en-US" altLang="ko-KR" dirty="0"/>
              <a:t>	</a:t>
            </a:r>
            <a:r>
              <a:rPr lang="ko-KR" altLang="en-US" dirty="0"/>
              <a:t>의뢰 설명문</a:t>
            </a:r>
            <a:endParaRPr lang="en-US" altLang="ko-KR" dirty="0"/>
          </a:p>
          <a:p>
            <a:r>
              <a:rPr lang="en-US" altLang="ko-KR" dirty="0"/>
              <a:t>	</a:t>
            </a:r>
          </a:p>
          <a:p>
            <a:r>
              <a:rPr lang="en-US" altLang="ko-KR" dirty="0"/>
              <a:t>-</a:t>
            </a:r>
          </a:p>
          <a:p>
            <a:endParaRPr lang="en-US" altLang="ko-KR" dirty="0"/>
          </a:p>
          <a:p>
            <a:r>
              <a:rPr lang="en-US" altLang="ko-KR" dirty="0"/>
              <a:t>-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45198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CB03452-EB6E-CA88-84E1-FEF920C8E0F2}"/>
              </a:ext>
            </a:extLst>
          </p:cNvPr>
          <p:cNvSpPr txBox="1"/>
          <p:nvPr/>
        </p:nvSpPr>
        <p:spPr>
          <a:xfrm>
            <a:off x="463452" y="563419"/>
            <a:ext cx="1733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타일 타격 연출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512066-2C29-3FDA-34FC-37EFB1A99550}"/>
              </a:ext>
            </a:extLst>
          </p:cNvPr>
          <p:cNvSpPr txBox="1"/>
          <p:nvPr/>
        </p:nvSpPr>
        <p:spPr>
          <a:xfrm>
            <a:off x="475286" y="3429000"/>
            <a:ext cx="7792903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타일에 타격을 가하는 카드 사용시</a:t>
            </a:r>
            <a:endParaRPr lang="en-US" altLang="ko-KR" dirty="0"/>
          </a:p>
          <a:p>
            <a:r>
              <a:rPr lang="ko-KR" altLang="en-US" dirty="0"/>
              <a:t>기존 위치에서 좌로 </a:t>
            </a:r>
            <a:r>
              <a:rPr lang="en-US" altLang="ko-KR" dirty="0"/>
              <a:t>1px </a:t>
            </a:r>
            <a:r>
              <a:rPr lang="ko-KR" altLang="en-US" dirty="0"/>
              <a:t>우로 </a:t>
            </a:r>
            <a:r>
              <a:rPr lang="en-US" altLang="ko-KR" dirty="0"/>
              <a:t>1px</a:t>
            </a:r>
            <a:r>
              <a:rPr lang="ko-KR" altLang="en-US" dirty="0"/>
              <a:t>씩 흔들리는 연출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타일 파괴 시</a:t>
            </a:r>
            <a:r>
              <a:rPr lang="en-US" altLang="ko-KR" dirty="0"/>
              <a:t>,</a:t>
            </a:r>
            <a:r>
              <a:rPr lang="ko-KR" altLang="en-US" dirty="0"/>
              <a:t> 파편이 나와 아래로 떨어지는 </a:t>
            </a:r>
            <a:r>
              <a:rPr lang="ko-KR" altLang="en-US" dirty="0" err="1"/>
              <a:t>파티클</a:t>
            </a:r>
            <a:endParaRPr lang="en-US" altLang="ko-KR" dirty="0"/>
          </a:p>
          <a:p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예시 </a:t>
            </a:r>
            <a:r>
              <a:rPr lang="ko-KR" altLang="en-US" dirty="0" err="1">
                <a:solidFill>
                  <a:srgbClr val="FF0000"/>
                </a:solidFill>
              </a:rPr>
              <a:t>파티클은</a:t>
            </a:r>
            <a:r>
              <a:rPr lang="ko-KR" altLang="en-US" dirty="0">
                <a:solidFill>
                  <a:srgbClr val="FF0000"/>
                </a:solidFill>
              </a:rPr>
              <a:t> 포토샵 노가다로 표현했기 때문에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ko-KR" altLang="en-US" dirty="0">
                <a:solidFill>
                  <a:srgbClr val="FF0000"/>
                </a:solidFill>
              </a:rPr>
              <a:t>실제 연출과 모양이나 개수가 크게 변할 수 있음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</a:p>
          <a:p>
            <a:endParaRPr lang="en-US" altLang="ko-KR" dirty="0">
              <a:solidFill>
                <a:srgbClr val="FF0000"/>
              </a:solidFill>
            </a:endParaRPr>
          </a:p>
          <a:p>
            <a:r>
              <a:rPr lang="ko-KR" altLang="en-US" dirty="0"/>
              <a:t>타일 파괴 실패 혹은 파괴는 안 하고 태그만 부여 시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타격한 타일만 기존 위치에서 위로 </a:t>
            </a:r>
            <a:r>
              <a:rPr lang="en-US" altLang="ko-KR" dirty="0"/>
              <a:t>1px, </a:t>
            </a:r>
            <a:r>
              <a:rPr lang="ko-KR" altLang="en-US" dirty="0"/>
              <a:t>아래로 </a:t>
            </a:r>
            <a:r>
              <a:rPr lang="en-US" altLang="ko-KR" dirty="0"/>
              <a:t>1px </a:t>
            </a:r>
            <a:r>
              <a:rPr lang="ko-KR" altLang="en-US" dirty="0"/>
              <a:t>추가로 흔들리는 연출</a:t>
            </a:r>
            <a:endParaRPr lang="en-US" altLang="ko-KR" dirty="0"/>
          </a:p>
          <a:p>
            <a:r>
              <a:rPr lang="ko-KR" altLang="en-US" dirty="0"/>
              <a:t>작은 먼지만 아래로 떨어지는 </a:t>
            </a:r>
            <a:r>
              <a:rPr lang="ko-KR" altLang="en-US" dirty="0" err="1"/>
              <a:t>파티클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8D5229C-BA23-1A2C-B44A-1400A0C4DF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286" y="1130118"/>
            <a:ext cx="2101515" cy="210151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9068B35-E3A0-BA86-9285-ABAEEE169C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4926" y="1130118"/>
            <a:ext cx="2101515" cy="2101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5302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54EE9-DC50-5B50-C450-D2324EEA3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692F68F-9FE0-562C-CAF0-FFB64FAD0421}"/>
              </a:ext>
            </a:extLst>
          </p:cNvPr>
          <p:cNvSpPr txBox="1"/>
          <p:nvPr/>
        </p:nvSpPr>
        <p:spPr>
          <a:xfrm>
            <a:off x="463452" y="563419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점수 </a:t>
            </a:r>
            <a:r>
              <a:rPr lang="ko-KR" altLang="en-US" b="1" dirty="0" err="1"/>
              <a:t>정보표</a:t>
            </a:r>
            <a:endParaRPr lang="ko-KR" alt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23CB87-8681-8029-4212-FA9BDC062269}"/>
              </a:ext>
            </a:extLst>
          </p:cNvPr>
          <p:cNvSpPr txBox="1"/>
          <p:nvPr/>
        </p:nvSpPr>
        <p:spPr>
          <a:xfrm>
            <a:off x="3182926" y="1512620"/>
            <a:ext cx="23462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Stage</a:t>
            </a:r>
            <a:r>
              <a:rPr lang="ko-KR" altLang="en-US" dirty="0"/>
              <a:t>의 </a:t>
            </a:r>
            <a:r>
              <a:rPr lang="en-US" altLang="ko-KR" dirty="0"/>
              <a:t>Target score</a:t>
            </a:r>
          </a:p>
          <a:p>
            <a:r>
              <a:rPr lang="ko-KR" altLang="en-US" dirty="0"/>
              <a:t>하단</a:t>
            </a:r>
            <a:r>
              <a:rPr lang="en-US" altLang="ko-KR" dirty="0"/>
              <a:t> </a:t>
            </a:r>
            <a:r>
              <a:rPr lang="ko-KR" altLang="en-US" dirty="0"/>
              <a:t>버튼으로 표기</a:t>
            </a:r>
            <a:endParaRPr lang="en-US" altLang="ko-KR" dirty="0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33814FD4-4B1B-76A2-5B79-DD2617D6151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801AA1E-A113-A877-F076-ABEC806F4A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507" y="1058358"/>
            <a:ext cx="2695384" cy="2421277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2CF59888-7E9F-0B0B-701B-3AA65FF0A4F6}"/>
              </a:ext>
            </a:extLst>
          </p:cNvPr>
          <p:cNvSpPr/>
          <p:nvPr/>
        </p:nvSpPr>
        <p:spPr>
          <a:xfrm>
            <a:off x="2493818" y="2669309"/>
            <a:ext cx="406400" cy="45258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2D4D79B1-48C4-1E52-8C12-BC63B15E7C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07" y="3605242"/>
            <a:ext cx="2886478" cy="233395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A55448D-2074-0D24-33FF-C08D54AE1161}"/>
              </a:ext>
            </a:extLst>
          </p:cNvPr>
          <p:cNvSpPr txBox="1"/>
          <p:nvPr/>
        </p:nvSpPr>
        <p:spPr>
          <a:xfrm>
            <a:off x="5657418" y="3592548"/>
            <a:ext cx="6375463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태그 점수</a:t>
            </a:r>
            <a:r>
              <a:rPr lang="en-US" altLang="ko-KR" b="1" dirty="0"/>
              <a:t>(</a:t>
            </a:r>
            <a:r>
              <a:rPr lang="ko-KR" altLang="en-US" b="1" dirty="0"/>
              <a:t>좌</a:t>
            </a:r>
            <a:r>
              <a:rPr lang="en-US" altLang="ko-KR" b="1" dirty="0"/>
              <a:t>)</a:t>
            </a:r>
            <a:r>
              <a:rPr lang="ko-KR" altLang="en-US" b="1" dirty="0"/>
              <a:t> </a:t>
            </a:r>
            <a:r>
              <a:rPr lang="en-US" altLang="ko-KR" b="1" dirty="0"/>
              <a:t>- </a:t>
            </a:r>
            <a:r>
              <a:rPr lang="ko-KR" altLang="en-US" dirty="0"/>
              <a:t>타일 파괴 시 카드로 받을 수 있는 점수</a:t>
            </a:r>
            <a:endParaRPr lang="en-US" altLang="ko-KR" dirty="0"/>
          </a:p>
          <a:p>
            <a:r>
              <a:rPr lang="ko-KR" altLang="en-US" dirty="0"/>
              <a:t>기본 점수 </a:t>
            </a:r>
            <a:r>
              <a:rPr lang="en-US" altLang="ko-KR" dirty="0"/>
              <a:t>x </a:t>
            </a:r>
            <a:r>
              <a:rPr lang="ko-KR" altLang="en-US" dirty="0"/>
              <a:t>기본 배율을 표기</a:t>
            </a:r>
            <a:endParaRPr lang="en-US" altLang="ko-KR" dirty="0"/>
          </a:p>
          <a:p>
            <a:endParaRPr lang="en-US" altLang="ko-KR" sz="1400" dirty="0"/>
          </a:p>
          <a:p>
            <a:r>
              <a:rPr lang="ko-KR" altLang="en-US" sz="1400" dirty="0"/>
              <a:t>예시</a:t>
            </a:r>
            <a:r>
              <a:rPr lang="en-US" altLang="ko-KR" sz="1400" dirty="0"/>
              <a:t>) </a:t>
            </a:r>
            <a:r>
              <a:rPr lang="ko-KR" altLang="en-US" sz="1400" dirty="0"/>
              <a:t>도구</a:t>
            </a:r>
            <a:r>
              <a:rPr lang="en-US" altLang="ko-KR" sz="1400" dirty="0"/>
              <a:t>/</a:t>
            </a:r>
            <a:r>
              <a:rPr lang="ko-KR" altLang="en-US" sz="1400" dirty="0"/>
              <a:t>황금 태그 카드로 타일 </a:t>
            </a:r>
            <a:r>
              <a:rPr lang="ko-KR" altLang="en-US" sz="1400" dirty="0" err="1"/>
              <a:t>파괴시</a:t>
            </a:r>
            <a:r>
              <a:rPr lang="ko-KR" altLang="en-US" sz="1400" dirty="0"/>
              <a:t> →</a:t>
            </a:r>
            <a:br>
              <a:rPr lang="en-US" altLang="ko-KR" sz="1400" dirty="0"/>
            </a:br>
            <a:r>
              <a:rPr lang="en-US" altLang="ko-KR" sz="1400" dirty="0"/>
              <a:t> (</a:t>
            </a:r>
            <a:r>
              <a:rPr lang="ko-KR" altLang="en-US" sz="1400" dirty="0"/>
              <a:t>파괴 점수</a:t>
            </a:r>
            <a:r>
              <a:rPr lang="en-US" altLang="ko-KR" sz="1400" dirty="0"/>
              <a:t>x</a:t>
            </a:r>
            <a:r>
              <a:rPr lang="ko-KR" altLang="en-US" sz="1400" dirty="0"/>
              <a:t>파괴 배율</a:t>
            </a:r>
            <a:r>
              <a:rPr lang="en-US" altLang="ko-KR" sz="1400" dirty="0"/>
              <a:t>) + (</a:t>
            </a:r>
            <a:r>
              <a:rPr lang="ko-KR" altLang="en-US" sz="1400" dirty="0"/>
              <a:t>도구 점수</a:t>
            </a:r>
            <a:r>
              <a:rPr lang="en-US" altLang="ko-KR" sz="1400" dirty="0"/>
              <a:t>x</a:t>
            </a:r>
            <a:r>
              <a:rPr lang="ko-KR" altLang="en-US" sz="1400" dirty="0"/>
              <a:t>도구 배율</a:t>
            </a:r>
            <a:r>
              <a:rPr lang="en-US" altLang="ko-KR" sz="1400" dirty="0"/>
              <a:t>) +</a:t>
            </a:r>
            <a:br>
              <a:rPr lang="en-US" altLang="ko-KR" sz="1400" dirty="0"/>
            </a:br>
            <a:r>
              <a:rPr lang="en-US" altLang="ko-KR" sz="1400" dirty="0"/>
              <a:t> (</a:t>
            </a:r>
            <a:r>
              <a:rPr lang="ko-KR" altLang="en-US" sz="1400" dirty="0"/>
              <a:t>황금 점수</a:t>
            </a:r>
            <a:r>
              <a:rPr lang="en-US" altLang="ko-KR" sz="1400" dirty="0"/>
              <a:t>x</a:t>
            </a:r>
            <a:r>
              <a:rPr lang="ko-KR" altLang="en-US" sz="1400" dirty="0"/>
              <a:t>황금 배율</a:t>
            </a:r>
            <a:r>
              <a:rPr lang="en-US" altLang="ko-KR" sz="1400" dirty="0"/>
              <a:t>) </a:t>
            </a:r>
            <a:r>
              <a:rPr lang="ko-KR" altLang="en-US" sz="1400" dirty="0"/>
              <a:t>에 해당하는 점수 획득</a:t>
            </a:r>
            <a:endParaRPr lang="en-US" altLang="ko-KR" sz="1400" dirty="0"/>
          </a:p>
          <a:p>
            <a:endParaRPr lang="en-US" altLang="ko-KR" b="1" dirty="0"/>
          </a:p>
          <a:p>
            <a:r>
              <a:rPr lang="ko-KR" altLang="en-US" b="1" dirty="0"/>
              <a:t>타일 점수</a:t>
            </a:r>
            <a:r>
              <a:rPr lang="en-US" altLang="ko-KR" b="1" dirty="0"/>
              <a:t>(</a:t>
            </a:r>
            <a:r>
              <a:rPr lang="ko-KR" altLang="en-US" b="1" dirty="0"/>
              <a:t>우</a:t>
            </a:r>
            <a:r>
              <a:rPr lang="en-US" altLang="ko-KR" b="1" dirty="0"/>
              <a:t>)</a:t>
            </a:r>
            <a:r>
              <a:rPr lang="ko-KR" altLang="en-US" b="1" dirty="0"/>
              <a:t> </a:t>
            </a:r>
            <a:r>
              <a:rPr lang="en-US" altLang="ko-KR" b="1" dirty="0"/>
              <a:t>– </a:t>
            </a:r>
            <a:r>
              <a:rPr lang="ko-KR" altLang="en-US" dirty="0"/>
              <a:t>타일의 특수 효과</a:t>
            </a:r>
            <a:r>
              <a:rPr lang="en-US" altLang="ko-KR" dirty="0"/>
              <a:t>/</a:t>
            </a:r>
            <a:r>
              <a:rPr lang="ko-KR" altLang="en-US" dirty="0"/>
              <a:t>파괴로 받을 수 있는 점수</a:t>
            </a:r>
            <a:endParaRPr lang="en-US" altLang="ko-KR" dirty="0"/>
          </a:p>
          <a:p>
            <a:r>
              <a:rPr lang="en-US" altLang="ko-KR" dirty="0"/>
              <a:t> (</a:t>
            </a:r>
            <a:r>
              <a:rPr lang="ko-KR" altLang="en-US" dirty="0"/>
              <a:t>감전은 효과 점수와 파괴 점수가 다를 수 있음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en-US" altLang="ko-KR" sz="1400" dirty="0"/>
              <a:t> </a:t>
            </a:r>
            <a:r>
              <a:rPr lang="ko-KR" altLang="en-US" sz="1400" dirty="0"/>
              <a:t>파괴 점수 </a:t>
            </a:r>
            <a:r>
              <a:rPr lang="en-US" altLang="ko-KR" sz="1400" dirty="0"/>
              <a:t>– </a:t>
            </a:r>
            <a:r>
              <a:rPr lang="ko-KR" altLang="en-US" sz="1400" dirty="0"/>
              <a:t>태그가 없으면 파괴</a:t>
            </a:r>
            <a:r>
              <a:rPr lang="en-US" altLang="ko-KR" sz="1400" dirty="0"/>
              <a:t>(</a:t>
            </a:r>
            <a:r>
              <a:rPr lang="ko-KR" altLang="en-US" sz="1400" dirty="0"/>
              <a:t>기본</a:t>
            </a:r>
            <a:r>
              <a:rPr lang="en-US" altLang="ko-KR" sz="1400" dirty="0"/>
              <a:t>) </a:t>
            </a:r>
            <a:r>
              <a:rPr lang="ko-KR" altLang="en-US" sz="1400" dirty="0"/>
              <a:t>점수</a:t>
            </a:r>
            <a:br>
              <a:rPr lang="en-US" altLang="ko-KR" sz="1400" dirty="0"/>
            </a:br>
            <a:r>
              <a:rPr lang="en-US" altLang="ko-KR" sz="1400" dirty="0"/>
              <a:t> </a:t>
            </a:r>
            <a:r>
              <a:rPr lang="ko-KR" altLang="en-US" sz="1400" dirty="0"/>
              <a:t>태그가 있으면 해당 태그 파괴 점수를 모두 별개로 이행</a:t>
            </a:r>
            <a:endParaRPr lang="en-US" altLang="ko-KR" sz="14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3A9DCB5-5326-FDB7-5244-C99E8F9140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9209" y="109181"/>
            <a:ext cx="3073442" cy="3416321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EC2F7C35-5C14-0EDC-CE50-AA667DBDC7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8344" y="109181"/>
            <a:ext cx="3294537" cy="3416320"/>
          </a:xfrm>
          <a:prstGeom prst="rect">
            <a:avLst/>
          </a:prstGeom>
        </p:spPr>
      </p:pic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B4AC5D4E-B62E-0DAB-A6A9-B560FDA55849}"/>
              </a:ext>
            </a:extLst>
          </p:cNvPr>
          <p:cNvCxnSpPr>
            <a:stCxn id="10" idx="3"/>
          </p:cNvCxnSpPr>
          <p:nvPr/>
        </p:nvCxnSpPr>
        <p:spPr>
          <a:xfrm flipV="1">
            <a:off x="2900218" y="2096655"/>
            <a:ext cx="2493818" cy="79894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951361A5-4BFB-D96C-11B9-79D004590071}"/>
              </a:ext>
            </a:extLst>
          </p:cNvPr>
          <p:cNvSpPr txBox="1"/>
          <p:nvPr/>
        </p:nvSpPr>
        <p:spPr>
          <a:xfrm>
            <a:off x="426507" y="5962298"/>
            <a:ext cx="2887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발라트로의</a:t>
            </a:r>
            <a:r>
              <a:rPr lang="ko-KR" altLang="en-US" dirty="0"/>
              <a:t> </a:t>
            </a:r>
            <a:r>
              <a:rPr lang="ko-KR" altLang="en-US" dirty="0" err="1"/>
              <a:t>족보같은</a:t>
            </a:r>
            <a:r>
              <a:rPr lang="ko-KR" altLang="en-US" dirty="0"/>
              <a:t> 기능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998517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13129-29EB-C92D-5F42-91537BCE2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5A04099-986D-C159-3F11-C013A961423D}"/>
              </a:ext>
            </a:extLst>
          </p:cNvPr>
          <p:cNvSpPr txBox="1"/>
          <p:nvPr/>
        </p:nvSpPr>
        <p:spPr>
          <a:xfrm>
            <a:off x="463452" y="563419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점수 </a:t>
            </a:r>
            <a:r>
              <a:rPr lang="ko-KR" altLang="en-US" b="1" dirty="0" err="1"/>
              <a:t>정보표</a:t>
            </a:r>
            <a:endParaRPr lang="ko-KR" altLang="en-US" b="1" dirty="0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89C689AD-5773-DE0C-0136-ABEE541E3E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248E95E-1DDE-B2AA-677E-4DBE2731CA03}"/>
              </a:ext>
            </a:extLst>
          </p:cNvPr>
          <p:cNvSpPr txBox="1"/>
          <p:nvPr/>
        </p:nvSpPr>
        <p:spPr>
          <a:xfrm>
            <a:off x="5648037" y="563419"/>
            <a:ext cx="6080511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타일 점수</a:t>
            </a:r>
            <a:endParaRPr lang="en-US" altLang="ko-KR" b="1" dirty="0"/>
          </a:p>
          <a:p>
            <a:endParaRPr lang="en-US" altLang="ko-KR" dirty="0"/>
          </a:p>
          <a:p>
            <a:r>
              <a:rPr lang="ko-KR" altLang="en-US" dirty="0"/>
              <a:t>파괴 점수 </a:t>
            </a:r>
            <a:r>
              <a:rPr lang="en-US" altLang="ko-KR" dirty="0"/>
              <a:t>– </a:t>
            </a:r>
            <a:r>
              <a:rPr lang="ko-KR" altLang="en-US" dirty="0"/>
              <a:t>태그가 없으면 파괴</a:t>
            </a:r>
            <a:r>
              <a:rPr lang="en-US" altLang="ko-KR" dirty="0"/>
              <a:t>(</a:t>
            </a:r>
            <a:r>
              <a:rPr lang="ko-KR" altLang="en-US" dirty="0"/>
              <a:t>기본</a:t>
            </a:r>
            <a:r>
              <a:rPr lang="en-US" altLang="ko-KR" dirty="0"/>
              <a:t>) </a:t>
            </a:r>
            <a:r>
              <a:rPr lang="ko-KR" altLang="en-US" dirty="0"/>
              <a:t>점수를 계산</a:t>
            </a:r>
            <a:endParaRPr lang="en-US" altLang="ko-KR" dirty="0"/>
          </a:p>
          <a:p>
            <a:r>
              <a:rPr lang="ko-KR" altLang="en-US" dirty="0"/>
              <a:t> 태그가 있으면 해당 태그 파괴 점수를 모두 별개로 이행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균열 </a:t>
            </a:r>
            <a:r>
              <a:rPr lang="en-US" altLang="ko-KR" dirty="0"/>
              <a:t>- </a:t>
            </a:r>
            <a:r>
              <a:rPr lang="ko-KR" altLang="en-US" dirty="0"/>
              <a:t>파괴</a:t>
            </a:r>
            <a:r>
              <a:rPr lang="en-US" altLang="ko-KR" dirty="0"/>
              <a:t>(</a:t>
            </a:r>
            <a:r>
              <a:rPr lang="ko-KR" altLang="en-US" dirty="0"/>
              <a:t>기본</a:t>
            </a:r>
            <a:r>
              <a:rPr lang="en-US" altLang="ko-KR" dirty="0"/>
              <a:t>)</a:t>
            </a:r>
            <a:r>
              <a:rPr lang="ko-KR" altLang="en-US" dirty="0"/>
              <a:t>의 점수와 연동</a:t>
            </a:r>
            <a:r>
              <a:rPr lang="en-US" altLang="ko-KR" dirty="0"/>
              <a:t>, </a:t>
            </a:r>
            <a:r>
              <a:rPr lang="ko-KR" altLang="en-US" dirty="0"/>
              <a:t>후 균열 전용 유물 적용</a:t>
            </a:r>
            <a:endParaRPr lang="en-US" altLang="ko-KR" dirty="0"/>
          </a:p>
          <a:p>
            <a:r>
              <a:rPr lang="ko-KR" altLang="en-US" dirty="0"/>
              <a:t>잔상 </a:t>
            </a:r>
            <a:r>
              <a:rPr lang="en-US" altLang="ko-KR" dirty="0"/>
              <a:t>- </a:t>
            </a:r>
            <a:r>
              <a:rPr lang="ko-KR" altLang="en-US" dirty="0"/>
              <a:t>기본 </a:t>
            </a:r>
            <a:r>
              <a:rPr lang="en-US" altLang="ko-KR" dirty="0"/>
              <a:t>0x0</a:t>
            </a:r>
            <a:r>
              <a:rPr lang="ko-KR" altLang="en-US" dirty="0"/>
              <a:t>점</a:t>
            </a:r>
            <a:endParaRPr lang="en-US" altLang="ko-KR" dirty="0"/>
          </a:p>
          <a:p>
            <a:r>
              <a:rPr lang="ko-KR" altLang="en-US" dirty="0"/>
              <a:t>연소 파괴 </a:t>
            </a:r>
            <a:r>
              <a:rPr lang="en-US" altLang="ko-KR" dirty="0"/>
              <a:t>- </a:t>
            </a:r>
            <a:r>
              <a:rPr lang="ko-KR" altLang="en-US" dirty="0"/>
              <a:t>기본 </a:t>
            </a:r>
            <a:r>
              <a:rPr lang="en-US" altLang="ko-KR" dirty="0"/>
              <a:t>0x1</a:t>
            </a:r>
            <a:r>
              <a:rPr lang="ko-KR" altLang="en-US" dirty="0"/>
              <a:t>점</a:t>
            </a:r>
            <a:endParaRPr lang="en-US" altLang="ko-KR" dirty="0"/>
          </a:p>
          <a:p>
            <a:r>
              <a:rPr lang="ko-KR" altLang="en-US" dirty="0"/>
              <a:t>감전 효과 </a:t>
            </a:r>
            <a:r>
              <a:rPr lang="en-US" altLang="ko-KR" dirty="0"/>
              <a:t>- (</a:t>
            </a:r>
            <a:r>
              <a:rPr lang="ko-KR" altLang="en-US" dirty="0"/>
              <a:t>파괴 점수</a:t>
            </a:r>
            <a:r>
              <a:rPr lang="en-US" altLang="ko-KR" dirty="0"/>
              <a:t>x</a:t>
            </a:r>
            <a:r>
              <a:rPr lang="ko-KR" altLang="en-US" dirty="0"/>
              <a:t>파괴 배율</a:t>
            </a:r>
            <a:r>
              <a:rPr lang="en-US" altLang="ko-KR" dirty="0"/>
              <a:t>x0.1)</a:t>
            </a:r>
            <a:r>
              <a:rPr lang="ko-KR" altLang="en-US" dirty="0"/>
              <a:t>과 연동</a:t>
            </a:r>
            <a:r>
              <a:rPr lang="en-US" altLang="ko-KR" dirty="0"/>
              <a:t>, </a:t>
            </a:r>
            <a:r>
              <a:rPr lang="ko-KR" altLang="en-US" dirty="0"/>
              <a:t>후 감전 유물 적용</a:t>
            </a:r>
            <a:endParaRPr lang="en-US" altLang="ko-KR" dirty="0"/>
          </a:p>
          <a:p>
            <a:r>
              <a:rPr lang="ko-KR" altLang="en-US" dirty="0"/>
              <a:t>감전 파괴 </a:t>
            </a:r>
            <a:r>
              <a:rPr lang="en-US" altLang="ko-KR" dirty="0"/>
              <a:t>- (</a:t>
            </a:r>
            <a:r>
              <a:rPr lang="ko-KR" altLang="en-US" dirty="0"/>
              <a:t>파괴 점수</a:t>
            </a:r>
            <a:r>
              <a:rPr lang="en-US" altLang="ko-KR" dirty="0"/>
              <a:t>x</a:t>
            </a:r>
            <a:r>
              <a:rPr lang="ko-KR" altLang="en-US" dirty="0"/>
              <a:t>파괴배율</a:t>
            </a:r>
            <a:r>
              <a:rPr lang="en-US" altLang="ko-KR" dirty="0"/>
              <a:t>)</a:t>
            </a:r>
            <a:r>
              <a:rPr lang="ko-KR" altLang="en-US" dirty="0"/>
              <a:t>과 연동 </a:t>
            </a:r>
            <a:r>
              <a:rPr lang="en-US" altLang="ko-KR" dirty="0"/>
              <a:t>x -1</a:t>
            </a:r>
            <a:br>
              <a:rPr lang="en-US" altLang="ko-KR" dirty="0"/>
            </a:br>
            <a:r>
              <a:rPr lang="ko-KR" altLang="en-US" dirty="0"/>
              <a:t>빙결 파괴 </a:t>
            </a:r>
            <a:r>
              <a:rPr lang="en-US" altLang="ko-KR" dirty="0"/>
              <a:t>- </a:t>
            </a:r>
            <a:r>
              <a:rPr lang="ko-KR" altLang="en-US" dirty="0"/>
              <a:t>파괴</a:t>
            </a:r>
            <a:r>
              <a:rPr lang="en-US" altLang="ko-KR" dirty="0"/>
              <a:t>(</a:t>
            </a:r>
            <a:r>
              <a:rPr lang="ko-KR" altLang="en-US" dirty="0"/>
              <a:t>기본</a:t>
            </a:r>
            <a:r>
              <a:rPr lang="en-US" altLang="ko-KR" dirty="0"/>
              <a:t>)</a:t>
            </a:r>
            <a:r>
              <a:rPr lang="ko-KR" altLang="en-US" dirty="0"/>
              <a:t>의 점수와 연동</a:t>
            </a:r>
            <a:r>
              <a:rPr lang="en-US" altLang="ko-KR" dirty="0"/>
              <a:t>, </a:t>
            </a:r>
            <a:r>
              <a:rPr lang="ko-KR" altLang="en-US" dirty="0"/>
              <a:t>후 빙결 유물 적용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b="1" dirty="0"/>
              <a:t>별 </a:t>
            </a:r>
            <a:r>
              <a:rPr lang="en-US" altLang="ko-KR" b="1" dirty="0"/>
              <a:t>(</a:t>
            </a:r>
            <a:r>
              <a:rPr lang="ko-KR" altLang="en-US" b="1" dirty="0"/>
              <a:t>즐겨찾기</a:t>
            </a:r>
            <a:r>
              <a:rPr lang="en-US" altLang="ko-KR" b="1" dirty="0"/>
              <a:t>)</a:t>
            </a:r>
          </a:p>
          <a:p>
            <a:endParaRPr lang="en-US" altLang="ko-KR" dirty="0"/>
          </a:p>
          <a:p>
            <a:r>
              <a:rPr lang="ko-KR" altLang="en-US" dirty="0"/>
              <a:t>유저가 즐겨찾기 한 게 맨 위로 올라옴</a:t>
            </a:r>
            <a:r>
              <a:rPr lang="en-US" altLang="ko-KR" dirty="0"/>
              <a:t>(</a:t>
            </a:r>
            <a:r>
              <a:rPr lang="ko-KR" altLang="en-US" dirty="0"/>
              <a:t>유저가 별 </a:t>
            </a:r>
            <a:r>
              <a:rPr lang="ko-KR" altLang="en-US" dirty="0" err="1"/>
              <a:t>누른거</a:t>
            </a:r>
            <a:r>
              <a:rPr lang="ko-KR" altLang="en-US" dirty="0"/>
              <a:t> 순서대로 맨 위로 올라감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캐릭터별 권장 태그가 기본적으로 즐겨찾기 되어있을까</a:t>
            </a:r>
            <a:r>
              <a:rPr lang="en-US" altLang="ko-KR" dirty="0"/>
              <a:t>?</a:t>
            </a:r>
            <a:r>
              <a:rPr lang="ko-KR" altLang="en-US" dirty="0"/>
              <a:t>하는 얘기가 있었음</a:t>
            </a:r>
            <a:r>
              <a:rPr lang="en-US" altLang="ko-KR" dirty="0"/>
              <a:t>(</a:t>
            </a:r>
            <a:r>
              <a:rPr lang="ko-KR" altLang="en-US" dirty="0"/>
              <a:t>중요하진 않음</a:t>
            </a:r>
            <a:r>
              <a:rPr lang="en-US" altLang="ko-KR" dirty="0"/>
              <a:t>. </a:t>
            </a:r>
            <a:r>
              <a:rPr lang="ko-KR" altLang="en-US" dirty="0"/>
              <a:t>있음 좋음</a:t>
            </a:r>
            <a:r>
              <a:rPr lang="en-US" altLang="ko-KR" dirty="0"/>
              <a:t>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D32CCBD-85F3-ED11-9AAF-4C36D7E3B7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452" y="1208308"/>
            <a:ext cx="4704551" cy="4878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257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00A2B-26D4-AD7F-C557-396614EF4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AECB721-BB18-379E-C1BA-4DD47293883B}"/>
              </a:ext>
            </a:extLst>
          </p:cNvPr>
          <p:cNvSpPr txBox="1"/>
          <p:nvPr/>
        </p:nvSpPr>
        <p:spPr>
          <a:xfrm>
            <a:off x="463452" y="563419"/>
            <a:ext cx="2076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보상 </a:t>
            </a:r>
            <a:r>
              <a:rPr lang="ko-KR" altLang="en-US" b="1" dirty="0" err="1"/>
              <a:t>획득창</a:t>
            </a:r>
            <a:endParaRPr lang="ko-KR" altLang="en-US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5566841-0C93-82B5-9098-17106208D9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452" y="1025236"/>
            <a:ext cx="5378131" cy="30133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3B2FF99-9681-09CD-E15E-29997E140955}"/>
              </a:ext>
            </a:extLst>
          </p:cNvPr>
          <p:cNvSpPr txBox="1"/>
          <p:nvPr/>
        </p:nvSpPr>
        <p:spPr>
          <a:xfrm>
            <a:off x="6096000" y="498764"/>
            <a:ext cx="5632548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</a:rPr>
              <a:t>게</a:t>
            </a:r>
            <a:r>
              <a:rPr lang="ko-KR" altLang="en-US" b="1" dirty="0"/>
              <a:t>임 도중에 등장하게 되면서 변경된 점</a:t>
            </a:r>
            <a:endParaRPr lang="en-US" altLang="ko-KR" b="1" dirty="0"/>
          </a:p>
          <a:p>
            <a:r>
              <a:rPr lang="ko-KR" altLang="en-US" dirty="0"/>
              <a:t> 상단에 </a:t>
            </a:r>
            <a:r>
              <a:rPr lang="en-US" altLang="ko-KR" dirty="0"/>
              <a:t>“</a:t>
            </a:r>
            <a:r>
              <a:rPr lang="ko-KR" altLang="en-US" dirty="0"/>
              <a:t>▽</a:t>
            </a:r>
            <a:r>
              <a:rPr lang="en-US" altLang="ko-KR" dirty="0"/>
              <a:t>(</a:t>
            </a:r>
            <a:r>
              <a:rPr lang="ko-KR" altLang="en-US" dirty="0"/>
              <a:t>접기 버튼</a:t>
            </a:r>
            <a:r>
              <a:rPr lang="en-US" altLang="ko-KR" dirty="0"/>
              <a:t>)”</a:t>
            </a:r>
            <a:r>
              <a:rPr lang="ko-KR" altLang="en-US" dirty="0"/>
              <a:t>이 추가되어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누르면 보상 선택 </a:t>
            </a:r>
            <a:r>
              <a:rPr lang="en-US" altLang="ko-KR" dirty="0"/>
              <a:t>UI</a:t>
            </a:r>
            <a:r>
              <a:rPr lang="ko-KR" altLang="en-US" dirty="0"/>
              <a:t>가 전체적으로 아래로 내려가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게임 진행 화면을 살펴볼 수 있게 됨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짝을 이루는 △버튼이 있어 다시 펼칠 수 있음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손패 정도만 살펴볼 수 있고 게임 진행은 불가능</a:t>
            </a:r>
            <a:endParaRPr lang="en-US" altLang="ko-KR" dirty="0"/>
          </a:p>
          <a:p>
            <a:r>
              <a:rPr lang="en-US" altLang="ko-KR" dirty="0"/>
              <a:t>(</a:t>
            </a:r>
            <a:r>
              <a:rPr lang="ko-KR" altLang="en-US" dirty="0"/>
              <a:t>이건 보물같이 게임 도중 등장하는 상황에서만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ko-KR" altLang="en-US" b="1" dirty="0">
                <a:solidFill>
                  <a:schemeClr val="accent2"/>
                </a:solidFill>
              </a:rPr>
              <a:t>보</a:t>
            </a:r>
            <a:r>
              <a:rPr lang="ko-KR" altLang="en-US" b="1" dirty="0"/>
              <a:t>상 개수를 여럿 선택 가능하게 되면서</a:t>
            </a:r>
            <a:r>
              <a:rPr lang="en-US" altLang="ko-KR" b="1" dirty="0"/>
              <a:t> </a:t>
            </a:r>
            <a:r>
              <a:rPr lang="ko-KR" altLang="en-US" b="1" dirty="0"/>
              <a:t>변경된 점</a:t>
            </a:r>
            <a:endParaRPr lang="en-US" altLang="ko-KR" b="1" dirty="0"/>
          </a:p>
          <a:p>
            <a:endParaRPr lang="en-US" altLang="ko-KR" dirty="0"/>
          </a:p>
          <a:p>
            <a:r>
              <a:rPr lang="en-US" altLang="ko-KR" dirty="0"/>
              <a:t>Select all</a:t>
            </a:r>
            <a:r>
              <a:rPr lang="ko-KR" altLang="en-US" dirty="0"/>
              <a:t>버튼</a:t>
            </a:r>
            <a:r>
              <a:rPr lang="en-US" altLang="ko-KR" dirty="0"/>
              <a:t> </a:t>
            </a:r>
            <a:r>
              <a:rPr lang="ko-KR" altLang="en-US" dirty="0"/>
              <a:t>추가</a:t>
            </a:r>
            <a:endParaRPr lang="en-US" altLang="ko-KR" dirty="0"/>
          </a:p>
          <a:p>
            <a:r>
              <a:rPr lang="ko-KR" altLang="en-US" dirty="0"/>
              <a:t>선택하기</a:t>
            </a:r>
            <a:r>
              <a:rPr lang="en-US" altLang="ko-KR" dirty="0"/>
              <a:t>/</a:t>
            </a:r>
            <a:r>
              <a:rPr lang="ko-KR" altLang="en-US" dirty="0"/>
              <a:t>취소하기가 마우스 오버에서 표기</a:t>
            </a:r>
            <a:endParaRPr lang="en-US" altLang="ko-KR" dirty="0"/>
          </a:p>
          <a:p>
            <a:r>
              <a:rPr lang="ko-KR" altLang="en-US" dirty="0"/>
              <a:t>선택 기능 추가</a:t>
            </a:r>
            <a:endParaRPr lang="en-US" altLang="ko-KR" dirty="0"/>
          </a:p>
          <a:p>
            <a:r>
              <a:rPr lang="ko-KR" altLang="en-US" dirty="0"/>
              <a:t>선택 가능 카드 수량 표기 </a:t>
            </a:r>
            <a:r>
              <a:rPr lang="en-US" altLang="ko-KR" dirty="0"/>
              <a:t>(n/m) </a:t>
            </a:r>
            <a:r>
              <a:rPr lang="ko-KR" altLang="en-US" dirty="0"/>
              <a:t>추가</a:t>
            </a:r>
            <a:endParaRPr lang="en-US" altLang="ko-KR" dirty="0"/>
          </a:p>
          <a:p>
            <a:r>
              <a:rPr lang="ko-KR" altLang="en-US" dirty="0"/>
              <a:t>경고문 추가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b="1" dirty="0">
                <a:solidFill>
                  <a:schemeClr val="accent6"/>
                </a:solidFill>
              </a:rPr>
              <a:t>그</a:t>
            </a:r>
            <a:r>
              <a:rPr lang="ko-KR" altLang="en-US" b="1" dirty="0"/>
              <a:t>냥 추가된 점</a:t>
            </a:r>
            <a:endParaRPr lang="en-US" altLang="ko-KR" b="1" dirty="0"/>
          </a:p>
          <a:p>
            <a:r>
              <a:rPr lang="ko-KR" altLang="en-US" dirty="0"/>
              <a:t>보상 내용에 골드 추가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텍스트 버튼</a:t>
            </a:r>
            <a:r>
              <a:rPr lang="en-US" altLang="ko-KR" dirty="0"/>
              <a:t>(         )</a:t>
            </a:r>
            <a:r>
              <a:rPr lang="ko-KR" altLang="en-US" dirty="0"/>
              <a:t>은 마우스 오버 시 밑줄로 강조</a:t>
            </a:r>
            <a:endParaRPr lang="en-US" altLang="ko-KR" dirty="0"/>
          </a:p>
          <a:p>
            <a:r>
              <a:rPr lang="en-US" altLang="ko-KR" dirty="0"/>
              <a:t>(</a:t>
            </a:r>
            <a:r>
              <a:rPr lang="ko-KR" altLang="en-US" dirty="0"/>
              <a:t>화면의            처럼</a:t>
            </a:r>
            <a:r>
              <a:rPr lang="en-US" altLang="ko-KR" dirty="0"/>
              <a:t>)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A6AB122-6C69-718C-B71F-C30DEA34A767}"/>
              </a:ext>
            </a:extLst>
          </p:cNvPr>
          <p:cNvSpPr/>
          <p:nvPr/>
        </p:nvSpPr>
        <p:spPr>
          <a:xfrm>
            <a:off x="2817090" y="969695"/>
            <a:ext cx="655782" cy="20332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F0ED584F-D724-9752-4C2C-760207BA3DC2}"/>
              </a:ext>
            </a:extLst>
          </p:cNvPr>
          <p:cNvCxnSpPr>
            <a:stCxn id="7" idx="3"/>
          </p:cNvCxnSpPr>
          <p:nvPr/>
        </p:nvCxnSpPr>
        <p:spPr>
          <a:xfrm>
            <a:off x="3472872" y="1071356"/>
            <a:ext cx="271549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D04BCE9-F89B-816E-6138-DB8DF111F980}"/>
              </a:ext>
            </a:extLst>
          </p:cNvPr>
          <p:cNvSpPr/>
          <p:nvPr/>
        </p:nvSpPr>
        <p:spPr>
          <a:xfrm>
            <a:off x="4867563" y="3713018"/>
            <a:ext cx="323273" cy="230904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FF19D31-02B7-7C91-E004-9C7F1D8EDBD0}"/>
              </a:ext>
            </a:extLst>
          </p:cNvPr>
          <p:cNvSpPr/>
          <p:nvPr/>
        </p:nvSpPr>
        <p:spPr>
          <a:xfrm>
            <a:off x="2073563" y="3313547"/>
            <a:ext cx="2134017" cy="630371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D9A531E-8A8F-F4B5-7F83-ABAD4580F3D8}"/>
              </a:ext>
            </a:extLst>
          </p:cNvPr>
          <p:cNvSpPr/>
          <p:nvPr/>
        </p:nvSpPr>
        <p:spPr>
          <a:xfrm>
            <a:off x="2812888" y="2410989"/>
            <a:ext cx="1888421" cy="276794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27F57B7-AF40-E7DE-B16D-614A7901BB42}"/>
              </a:ext>
            </a:extLst>
          </p:cNvPr>
          <p:cNvSpPr/>
          <p:nvPr/>
        </p:nvSpPr>
        <p:spPr>
          <a:xfrm>
            <a:off x="3842328" y="1602775"/>
            <a:ext cx="1182254" cy="383035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221AF0-B3E0-7C34-2B6C-7F4BF68C3721}"/>
              </a:ext>
            </a:extLst>
          </p:cNvPr>
          <p:cNvSpPr txBox="1"/>
          <p:nvPr/>
        </p:nvSpPr>
        <p:spPr>
          <a:xfrm>
            <a:off x="336243" y="4200350"/>
            <a:ext cx="563254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기존에는 카드를 한 번 클릭 → 선택하기 문구가 표시 → 한번 더 클릭하여</a:t>
            </a:r>
            <a:endParaRPr lang="en-US" altLang="ko-KR" sz="1200" dirty="0"/>
          </a:p>
          <a:p>
            <a:r>
              <a:rPr lang="ko-KR" altLang="en-US" sz="1200" dirty="0"/>
              <a:t>카드를 선택함과 동시에 다음 화면</a:t>
            </a:r>
            <a:r>
              <a:rPr lang="en-US" altLang="ko-KR" sz="1200" dirty="0"/>
              <a:t>(</a:t>
            </a:r>
            <a:r>
              <a:rPr lang="ko-KR" altLang="en-US" sz="1200" dirty="0"/>
              <a:t>상점</a:t>
            </a:r>
            <a:r>
              <a:rPr lang="en-US" altLang="ko-KR" sz="1200" dirty="0"/>
              <a:t>)</a:t>
            </a:r>
            <a:r>
              <a:rPr lang="ko-KR" altLang="en-US" sz="1200" dirty="0"/>
              <a:t>으로 바로 넘어갔지만</a:t>
            </a:r>
            <a:r>
              <a:rPr lang="en-US" altLang="ko-KR" sz="1200" dirty="0"/>
              <a:t>,</a:t>
            </a:r>
          </a:p>
          <a:p>
            <a:endParaRPr lang="en-US" altLang="ko-KR" sz="1200" dirty="0"/>
          </a:p>
          <a:p>
            <a:r>
              <a:rPr lang="ko-KR" altLang="en-US" sz="1200" dirty="0"/>
              <a:t>보물 기획을 통해 해당 화면이 보다 자주 등장하게 되면서</a:t>
            </a:r>
            <a:endParaRPr lang="en-US" altLang="ko-KR" sz="1200" dirty="0"/>
          </a:p>
          <a:p>
            <a:r>
              <a:rPr lang="ko-KR" altLang="en-US" sz="1200" dirty="0"/>
              <a:t>여러 카드의 조작을 빠르게 해 넘어갈 수 있도록</a:t>
            </a:r>
            <a:r>
              <a:rPr lang="en-US" altLang="ko-KR" sz="1200" dirty="0"/>
              <a:t>,</a:t>
            </a:r>
          </a:p>
          <a:p>
            <a:r>
              <a:rPr lang="ko-KR" altLang="en-US" sz="1200" dirty="0"/>
              <a:t>카드 선택은 클릭 한번으로 되도록 변경했습니다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r>
              <a:rPr lang="ko-KR" altLang="en-US" sz="1200" dirty="0"/>
              <a:t>동시에 사고율을 줄이기 위해 </a:t>
            </a:r>
            <a:r>
              <a:rPr lang="ko-KR" altLang="en-US" sz="1200" dirty="0" err="1"/>
              <a:t>우하단</a:t>
            </a:r>
            <a:r>
              <a:rPr lang="ko-KR" altLang="en-US" sz="1200" dirty="0"/>
              <a:t> </a:t>
            </a:r>
            <a:r>
              <a:rPr lang="en-US" altLang="ko-KR" sz="1200" dirty="0"/>
              <a:t>next</a:t>
            </a:r>
            <a:r>
              <a:rPr lang="ko-KR" altLang="en-US" sz="1200" dirty="0"/>
              <a:t>를 통해 넘어가도록 변경했습니다</a:t>
            </a:r>
            <a:r>
              <a:rPr lang="en-US" altLang="ko-KR" sz="1200" dirty="0"/>
              <a:t>.</a:t>
            </a:r>
          </a:p>
          <a:p>
            <a:r>
              <a:rPr lang="en-US" altLang="ko-KR" sz="1200" dirty="0"/>
              <a:t>(</a:t>
            </a:r>
            <a:r>
              <a:rPr lang="ko-KR" altLang="en-US" sz="1200" dirty="0"/>
              <a:t>아무 카드도 선택하지 않은 경우 </a:t>
            </a:r>
            <a:r>
              <a:rPr lang="en-US" altLang="ko-KR" sz="1200" dirty="0"/>
              <a:t>skip</a:t>
            </a:r>
            <a:r>
              <a:rPr lang="ko-KR" altLang="en-US" sz="1200" dirty="0"/>
              <a:t>→으로 표기되고</a:t>
            </a:r>
            <a:r>
              <a:rPr lang="en-US" altLang="ko-KR" sz="1200" dirty="0"/>
              <a:t>, </a:t>
            </a:r>
            <a:r>
              <a:rPr lang="ko-KR" altLang="en-US" sz="1200" dirty="0"/>
              <a:t>기능은 동일합니다</a:t>
            </a:r>
            <a:r>
              <a:rPr lang="en-US" altLang="ko-KR" sz="1200" dirty="0"/>
              <a:t>.)</a:t>
            </a:r>
          </a:p>
          <a:p>
            <a:r>
              <a:rPr lang="en-US" altLang="ko-KR" sz="1200" dirty="0">
                <a:solidFill>
                  <a:srgbClr val="FF0000"/>
                </a:solidFill>
              </a:rPr>
              <a:t>※ “Select all”</a:t>
            </a:r>
            <a:r>
              <a:rPr lang="ko-KR" altLang="en-US" sz="1200" dirty="0">
                <a:solidFill>
                  <a:srgbClr val="FF0000"/>
                </a:solidFill>
              </a:rPr>
              <a:t>은 모두 체크될 뿐 다음 화면으로 넘어가지지 않습니다</a:t>
            </a:r>
            <a:r>
              <a:rPr lang="en-US" altLang="ko-KR" sz="1200" dirty="0">
                <a:solidFill>
                  <a:srgbClr val="FF0000"/>
                </a:solidFill>
              </a:rPr>
              <a:t>.</a:t>
            </a:r>
          </a:p>
          <a:p>
            <a:endParaRPr lang="en-US" altLang="ko-KR" sz="1200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8B6D64D-B98E-A16D-C06A-BAF8D4B76DF5}"/>
              </a:ext>
            </a:extLst>
          </p:cNvPr>
          <p:cNvSpPr/>
          <p:nvPr/>
        </p:nvSpPr>
        <p:spPr>
          <a:xfrm>
            <a:off x="1252150" y="1579715"/>
            <a:ext cx="1182255" cy="1733831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FB8E10C-0550-C43C-1436-8F780562C1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9378" y="5942200"/>
            <a:ext cx="571500" cy="12382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0BA9FB4-BA95-4DA8-54B2-B329E84D67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6176" y="6073865"/>
            <a:ext cx="400050" cy="1143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E827A0D-6C5D-3751-5362-192685129FD3}"/>
              </a:ext>
            </a:extLst>
          </p:cNvPr>
          <p:cNvSpPr txBox="1"/>
          <p:nvPr/>
        </p:nvSpPr>
        <p:spPr>
          <a:xfrm>
            <a:off x="5067331" y="4770935"/>
            <a:ext cx="56325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Select all</a:t>
            </a:r>
            <a:r>
              <a:rPr lang="ko-KR" altLang="en-US" sz="1200" dirty="0"/>
              <a:t>과 </a:t>
            </a:r>
            <a:r>
              <a:rPr lang="en-US" altLang="ko-KR" sz="1200" dirty="0"/>
              <a:t>next</a:t>
            </a:r>
            <a:r>
              <a:rPr lang="ko-KR" altLang="en-US" sz="1200" dirty="0"/>
              <a:t>→</a:t>
            </a:r>
            <a:endParaRPr lang="en-US" altLang="ko-KR" sz="1200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CB8C2ED8-19D8-1958-71D9-B08EBC83C8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6950" y="5745305"/>
            <a:ext cx="361950" cy="142875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34B90EFF-89C7-9F20-9320-4D0E17D7A05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6176" y="6206637"/>
            <a:ext cx="361950" cy="142875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42DE3363-924C-4955-4180-D22F18FC28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7656" y="6361057"/>
            <a:ext cx="885949" cy="247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8169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1FFCF-0173-664E-02CD-623290831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B12B82F-4E26-76D1-C2A8-19F2A1D427DE}"/>
              </a:ext>
            </a:extLst>
          </p:cNvPr>
          <p:cNvSpPr txBox="1"/>
          <p:nvPr/>
        </p:nvSpPr>
        <p:spPr>
          <a:xfrm>
            <a:off x="463452" y="563419"/>
            <a:ext cx="2076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팝업 접기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2FC37F6-4F7D-792F-A53B-93FD55C60B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549" y="1136217"/>
            <a:ext cx="4497637" cy="96967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709AC6A-2D6A-00A1-45B7-55DAFFBCD4FB}"/>
              </a:ext>
            </a:extLst>
          </p:cNvPr>
          <p:cNvSpPr txBox="1"/>
          <p:nvPr/>
        </p:nvSpPr>
        <p:spPr>
          <a:xfrm>
            <a:off x="5089237" y="1254099"/>
            <a:ext cx="56325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▽접기 버튼</a:t>
            </a:r>
            <a:endParaRPr lang="en-US" altLang="ko-KR" b="1" dirty="0"/>
          </a:p>
          <a:p>
            <a:r>
              <a:rPr lang="ko-KR" altLang="en-US" dirty="0"/>
              <a:t>빨간색 라인 너머</a:t>
            </a:r>
            <a:r>
              <a:rPr lang="en-US" altLang="ko-KR" dirty="0"/>
              <a:t> (</a:t>
            </a:r>
            <a:r>
              <a:rPr lang="ko-KR" altLang="en-US" dirty="0"/>
              <a:t>클릭 범위</a:t>
            </a:r>
            <a:r>
              <a:rPr lang="en-US" altLang="ko-KR" dirty="0"/>
              <a:t>)</a:t>
            </a:r>
            <a:r>
              <a:rPr lang="ko-KR" altLang="en-US" dirty="0"/>
              <a:t>로 마우스를 올리면</a:t>
            </a:r>
            <a:endParaRPr lang="en-US" altLang="ko-KR" dirty="0"/>
          </a:p>
          <a:p>
            <a:r>
              <a:rPr lang="ko-KR" altLang="en-US" dirty="0"/>
              <a:t>튀어나오는 연출</a:t>
            </a:r>
            <a:endParaRPr lang="en-US" altLang="ko-KR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9082E08D-C445-70FC-EE19-6443344B3D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452" y="2341299"/>
            <a:ext cx="5004475" cy="281927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AD259D0-9C4F-355A-8046-0AAEDA291B2F}"/>
              </a:ext>
            </a:extLst>
          </p:cNvPr>
          <p:cNvSpPr txBox="1"/>
          <p:nvPr/>
        </p:nvSpPr>
        <p:spPr>
          <a:xfrm>
            <a:off x="5601855" y="2387481"/>
            <a:ext cx="563254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반툼여</a:t>
            </a:r>
            <a:r>
              <a:rPr lang="ko-KR" altLang="en-US" dirty="0"/>
              <a:t> 어두운 배경</a:t>
            </a:r>
            <a:r>
              <a:rPr lang="en-US" altLang="ko-KR" dirty="0"/>
              <a:t>(</a:t>
            </a:r>
            <a:r>
              <a:rPr lang="ko-KR" altLang="en-US" dirty="0" err="1"/>
              <a:t>틸드처리</a:t>
            </a:r>
            <a:r>
              <a:rPr lang="en-US" altLang="ko-KR" dirty="0"/>
              <a:t>)</a:t>
            </a:r>
            <a:r>
              <a:rPr lang="ko-KR" altLang="en-US" dirty="0"/>
              <a:t>째로</a:t>
            </a:r>
            <a:endParaRPr lang="en-US" altLang="ko-KR" dirty="0"/>
          </a:p>
          <a:p>
            <a:r>
              <a:rPr lang="ko-KR" altLang="en-US" dirty="0"/>
              <a:t>화면 전체가 아래로 접히며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하단에 △펼치기 버튼이</a:t>
            </a:r>
            <a:endParaRPr lang="en-US" altLang="ko-KR" dirty="0"/>
          </a:p>
          <a:p>
            <a:r>
              <a:rPr lang="ko-KR" altLang="en-US" dirty="0"/>
              <a:t>▽접기 버튼과 동일하게 위치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상단은 어림잡아 클릭 범위를 넓게 지정해도 되는데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하단은 카드나 덱</a:t>
            </a:r>
            <a:r>
              <a:rPr lang="en-US" altLang="ko-KR" dirty="0"/>
              <a:t>/</a:t>
            </a:r>
            <a:r>
              <a:rPr lang="ko-KR" altLang="en-US" dirty="0"/>
              <a:t>묘지를 살펴보기 위한 상호작용이 있어서 </a:t>
            </a:r>
            <a:r>
              <a:rPr lang="ko-KR" altLang="en-US" dirty="0" err="1"/>
              <a:t>디테일하게</a:t>
            </a:r>
            <a:r>
              <a:rPr lang="ko-KR" altLang="en-US" dirty="0"/>
              <a:t> 설정해줘야 할 것 같다</a:t>
            </a:r>
            <a:endParaRPr lang="en-US" altLang="ko-KR" dirty="0"/>
          </a:p>
          <a:p>
            <a:r>
              <a:rPr lang="en-US" altLang="ko-KR" dirty="0"/>
              <a:t>(</a:t>
            </a:r>
            <a:r>
              <a:rPr lang="ko-KR" altLang="en-US" dirty="0"/>
              <a:t>주황색으로 표시한 부분을 제외하는 작업</a:t>
            </a:r>
            <a:r>
              <a:rPr lang="en-US" altLang="ko-KR" dirty="0"/>
              <a:t>)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7A8D3246-A31F-E36F-D029-045A0505C867}"/>
              </a:ext>
            </a:extLst>
          </p:cNvPr>
          <p:cNvSpPr/>
          <p:nvPr/>
        </p:nvSpPr>
        <p:spPr>
          <a:xfrm>
            <a:off x="2628562" y="5003432"/>
            <a:ext cx="655782" cy="20332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5CB5882F-5825-6523-486C-77ECCA9B39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452" y="5395982"/>
            <a:ext cx="6654784" cy="449948"/>
          </a:xfrm>
          <a:prstGeom prst="rect">
            <a:avLst/>
          </a:prstGeom>
        </p:spPr>
      </p:pic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FFAE41D8-07D9-56C6-D0DE-0ED15B631A2D}"/>
              </a:ext>
            </a:extLst>
          </p:cNvPr>
          <p:cNvSpPr/>
          <p:nvPr/>
        </p:nvSpPr>
        <p:spPr>
          <a:xfrm>
            <a:off x="450414" y="5576513"/>
            <a:ext cx="3096350" cy="145270"/>
          </a:xfrm>
          <a:prstGeom prst="round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128B838B-7D58-7E25-26C0-ACC22DD01501}"/>
              </a:ext>
            </a:extLst>
          </p:cNvPr>
          <p:cNvSpPr/>
          <p:nvPr/>
        </p:nvSpPr>
        <p:spPr>
          <a:xfrm>
            <a:off x="4053680" y="5566588"/>
            <a:ext cx="3096350" cy="145270"/>
          </a:xfrm>
          <a:prstGeom prst="round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5298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003AC68E-E299-A51C-D536-7E9B7FF1C0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452" y="1007051"/>
            <a:ext cx="5319634" cy="2992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6D82223-5778-4BED-1CB4-723F9084F492}"/>
              </a:ext>
            </a:extLst>
          </p:cNvPr>
          <p:cNvSpPr txBox="1"/>
          <p:nvPr/>
        </p:nvSpPr>
        <p:spPr>
          <a:xfrm>
            <a:off x="463452" y="56341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이벤트창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FF8ECE-C7A4-2FFC-4653-AEB90315523C}"/>
              </a:ext>
            </a:extLst>
          </p:cNvPr>
          <p:cNvSpPr txBox="1"/>
          <p:nvPr/>
        </p:nvSpPr>
        <p:spPr>
          <a:xfrm>
            <a:off x="6096000" y="563419"/>
            <a:ext cx="563254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</a:rPr>
              <a:t>게</a:t>
            </a:r>
            <a:r>
              <a:rPr lang="ko-KR" altLang="en-US" b="1" dirty="0"/>
              <a:t>임 도중에 등장하므로</a:t>
            </a:r>
            <a:endParaRPr lang="en-US" altLang="ko-KR" b="1" dirty="0"/>
          </a:p>
          <a:p>
            <a:r>
              <a:rPr lang="ko-KR" altLang="en-US" dirty="0"/>
              <a:t>상단에 </a:t>
            </a:r>
            <a:r>
              <a:rPr lang="en-US" altLang="ko-KR" dirty="0"/>
              <a:t>“</a:t>
            </a:r>
            <a:r>
              <a:rPr lang="ko-KR" altLang="en-US" dirty="0"/>
              <a:t>▽</a:t>
            </a:r>
            <a:r>
              <a:rPr lang="en-US" altLang="ko-KR" dirty="0"/>
              <a:t>(</a:t>
            </a:r>
            <a:r>
              <a:rPr lang="ko-KR" altLang="en-US" dirty="0"/>
              <a:t>접기 버튼</a:t>
            </a:r>
            <a:r>
              <a:rPr lang="en-US" altLang="ko-KR" dirty="0"/>
              <a:t>)”,</a:t>
            </a:r>
          </a:p>
          <a:p>
            <a:r>
              <a:rPr lang="ko-KR" altLang="en-US" dirty="0"/>
              <a:t>하단에 덱 보기 버튼이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b="1" dirty="0">
                <a:solidFill>
                  <a:schemeClr val="accent2"/>
                </a:solidFill>
              </a:rPr>
              <a:t>기</a:t>
            </a:r>
            <a:r>
              <a:rPr lang="ko-KR" altLang="en-US" b="1" dirty="0"/>
              <a:t>능</a:t>
            </a:r>
            <a:endParaRPr lang="en-US" altLang="ko-KR" b="1" dirty="0"/>
          </a:p>
          <a:p>
            <a:endParaRPr lang="en-US" altLang="ko-KR" dirty="0"/>
          </a:p>
          <a:p>
            <a:r>
              <a:rPr lang="ko-KR" altLang="en-US" dirty="0"/>
              <a:t>이벤트별 이미지 표기</a:t>
            </a:r>
            <a:endParaRPr lang="en-US" altLang="ko-KR" dirty="0"/>
          </a:p>
          <a:p>
            <a:r>
              <a:rPr lang="ko-KR" altLang="en-US" dirty="0"/>
              <a:t>이벤트 내용 표기</a:t>
            </a:r>
            <a:endParaRPr lang="en-US" altLang="ko-KR" dirty="0"/>
          </a:p>
          <a:p>
            <a:r>
              <a:rPr lang="ko-KR" altLang="en-US" dirty="0"/>
              <a:t>내용이 길어지면 스크롤 가능</a:t>
            </a:r>
            <a:endParaRPr lang="en-US" altLang="ko-KR" dirty="0"/>
          </a:p>
          <a:p>
            <a:r>
              <a:rPr lang="ko-KR" altLang="en-US" dirty="0"/>
              <a:t>선택지</a:t>
            </a:r>
            <a:r>
              <a:rPr lang="en-US" altLang="ko-KR" dirty="0"/>
              <a:t>(</a:t>
            </a:r>
            <a:r>
              <a:rPr lang="ko-KR" altLang="en-US" dirty="0"/>
              <a:t>예시에선 아니지만 텍스트 최하단에 위치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ko-KR" altLang="en-US" dirty="0"/>
              <a:t>선택지는 텍스트 내용과 분리된 색상으로 표시</a:t>
            </a:r>
            <a:endParaRPr lang="en-US" altLang="ko-KR" dirty="0"/>
          </a:p>
          <a:p>
            <a:r>
              <a:rPr lang="ko-KR" altLang="en-US" dirty="0"/>
              <a:t>마우스 오버로 강조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조건에 의해 선택 못 하는 선택지는</a:t>
            </a:r>
            <a:r>
              <a:rPr lang="en-US" altLang="ko-KR" dirty="0"/>
              <a:t> </a:t>
            </a:r>
            <a:r>
              <a:rPr lang="ko-KR" altLang="en-US" strike="sngStrike" dirty="0" err="1"/>
              <a:t>줄처리</a:t>
            </a:r>
            <a:r>
              <a:rPr lang="ko-KR" altLang="en-US" dirty="0"/>
              <a:t> 할거임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4408005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0CF65-8573-38AD-6740-DC4EE5C08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3BB8A3B0-93A3-0BD5-130B-B94CF503A1E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AB29910-7E91-1B9C-23EC-B23C31627BE0}"/>
              </a:ext>
            </a:extLst>
          </p:cNvPr>
          <p:cNvSpPr txBox="1"/>
          <p:nvPr/>
        </p:nvSpPr>
        <p:spPr>
          <a:xfrm>
            <a:off x="669638" y="563419"/>
            <a:ext cx="1036781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0425 PD </a:t>
            </a:r>
            <a:r>
              <a:rPr lang="ko-KR" altLang="en-US" b="1" dirty="0"/>
              <a:t>사라짐 사건</a:t>
            </a:r>
            <a:endParaRPr lang="en-US" altLang="ko-KR" b="1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BE86D04-8310-918D-B542-B4E037F24B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3132" y="2432261"/>
            <a:ext cx="2286319" cy="149563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B538FC6-9510-F441-E3C1-7BBC42117F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638" y="1271584"/>
            <a:ext cx="4572000" cy="25717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EC943E-F69D-29E4-8DB9-66CE5FEF36AA}"/>
              </a:ext>
            </a:extLst>
          </p:cNvPr>
          <p:cNvSpPr txBox="1"/>
          <p:nvPr/>
        </p:nvSpPr>
        <p:spPr>
          <a:xfrm>
            <a:off x="5433132" y="1271584"/>
            <a:ext cx="62046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</a:t>
            </a:r>
            <a:r>
              <a:rPr lang="ko-KR" altLang="en-US" dirty="0"/>
              <a:t>번 레이어와 </a:t>
            </a:r>
            <a:r>
              <a:rPr lang="en-US" altLang="ko-KR" dirty="0"/>
              <a:t>4</a:t>
            </a:r>
            <a:r>
              <a:rPr lang="ko-KR" altLang="en-US" dirty="0"/>
              <a:t>번 레이어 사이에</a:t>
            </a:r>
            <a:endParaRPr lang="en-US" altLang="ko-KR" dirty="0"/>
          </a:p>
          <a:p>
            <a:r>
              <a:rPr lang="ko-KR" altLang="en-US" dirty="0"/>
              <a:t>캐릭터를 둬서 캐릭터의 다리가 가려져야 함</a:t>
            </a:r>
            <a:endParaRPr lang="en-US" altLang="ko-KR" dirty="0"/>
          </a:p>
          <a:p>
            <a:r>
              <a:rPr lang="en-US" altLang="ko-KR" dirty="0"/>
              <a:t>AD</a:t>
            </a:r>
            <a:r>
              <a:rPr lang="ko-KR" altLang="en-US" dirty="0"/>
              <a:t>가 주시하고 있으니 배경 </a:t>
            </a:r>
            <a:r>
              <a:rPr lang="ko-KR" altLang="en-US" dirty="0" err="1"/>
              <a:t>프리팹을</a:t>
            </a:r>
            <a:endParaRPr lang="en-US" altLang="ko-KR" dirty="0"/>
          </a:p>
          <a:p>
            <a:r>
              <a:rPr lang="en-US" altLang="ko-KR" dirty="0"/>
              <a:t>3</a:t>
            </a:r>
            <a:r>
              <a:rPr lang="ko-KR" altLang="en-US" dirty="0"/>
              <a:t>번 레이어 앞</a:t>
            </a:r>
            <a:r>
              <a:rPr lang="en-US" altLang="ko-KR" dirty="0"/>
              <a:t>/</a:t>
            </a:r>
            <a:r>
              <a:rPr lang="ko-KR" altLang="en-US" dirty="0"/>
              <a:t>뒤 </a:t>
            </a:r>
            <a:r>
              <a:rPr lang="en-US" altLang="ko-KR" dirty="0"/>
              <a:t>2</a:t>
            </a:r>
            <a:r>
              <a:rPr lang="ko-KR" altLang="en-US" dirty="0"/>
              <a:t>개로 쪼개서라도 적용하는 게 좋음</a:t>
            </a:r>
            <a:endParaRPr lang="en-US" altLang="ko-KR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75BB474F-D3E1-161A-76C2-76E0E5C32D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9351" y="4161565"/>
            <a:ext cx="4120434" cy="2317744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549990EF-93EB-7B97-32E1-6AC7C1F6D6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638" y="4077715"/>
            <a:ext cx="3505198" cy="240159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8C39408-9F8E-66BA-4797-272C7487AB6E}"/>
              </a:ext>
            </a:extLst>
          </p:cNvPr>
          <p:cNvSpPr txBox="1"/>
          <p:nvPr/>
        </p:nvSpPr>
        <p:spPr>
          <a:xfrm>
            <a:off x="8552873" y="4161565"/>
            <a:ext cx="317730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덱 리스트 스크롤을 세로로</a:t>
            </a:r>
            <a:r>
              <a:rPr lang="en-US" altLang="ko-KR" dirty="0"/>
              <a:t>!</a:t>
            </a:r>
          </a:p>
          <a:p>
            <a:r>
              <a:rPr lang="ko-KR" altLang="en-US" dirty="0"/>
              <a:t>스크롤 오브젝트를 어떻게 수정하는지 잘 </a:t>
            </a:r>
            <a:r>
              <a:rPr lang="ko-KR" altLang="en-US" dirty="0" err="1"/>
              <a:t>모르겠어서</a:t>
            </a:r>
            <a:endParaRPr lang="en-US" altLang="ko-KR" dirty="0"/>
          </a:p>
          <a:p>
            <a:r>
              <a:rPr lang="ko-KR" altLang="en-US" dirty="0"/>
              <a:t>방치했음</a:t>
            </a:r>
            <a:r>
              <a:rPr lang="en-US" altLang="ko-KR" dirty="0"/>
              <a:t>(</a:t>
            </a:r>
            <a:r>
              <a:rPr lang="ko-KR" altLang="en-US" dirty="0" err="1"/>
              <a:t>잘못건들면</a:t>
            </a:r>
            <a:r>
              <a:rPr lang="ko-KR" altLang="en-US" dirty="0"/>
              <a:t> 빨간 </a:t>
            </a:r>
            <a:r>
              <a:rPr lang="en-US" altLang="ko-KR" dirty="0"/>
              <a:t>X</a:t>
            </a:r>
            <a:r>
              <a:rPr lang="ko-KR" altLang="en-US" dirty="0"/>
              <a:t>뜨면서 깨지던</a:t>
            </a:r>
            <a:r>
              <a:rPr lang="en-US" altLang="ko-KR" dirty="0"/>
              <a:t>)</a:t>
            </a:r>
          </a:p>
          <a:p>
            <a:r>
              <a:rPr lang="ko-KR" altLang="en-US" sz="1400" dirty="0" err="1"/>
              <a:t>덱→카드</a:t>
            </a:r>
            <a:r>
              <a:rPr lang="ko-KR" altLang="en-US" sz="1400" dirty="0"/>
              <a:t> 전체보기 버튼</a:t>
            </a:r>
            <a:r>
              <a:rPr lang="en-US" altLang="ko-KR" sz="1400" dirty="0"/>
              <a:t>,</a:t>
            </a:r>
          </a:p>
          <a:p>
            <a:r>
              <a:rPr lang="ko-KR" altLang="en-US" sz="1400" dirty="0"/>
              <a:t>카드 </a:t>
            </a:r>
            <a:r>
              <a:rPr lang="ko-KR" altLang="en-US" sz="1400" dirty="0" err="1"/>
              <a:t>전체보기→덱으로</a:t>
            </a:r>
            <a:r>
              <a:rPr lang="ko-KR" altLang="en-US" sz="1400" dirty="0"/>
              <a:t> 돌아가는 버튼</a:t>
            </a:r>
            <a:r>
              <a:rPr lang="en-US" altLang="ko-KR" sz="1400" dirty="0"/>
              <a:t>(</a:t>
            </a:r>
            <a:r>
              <a:rPr lang="ko-KR" altLang="en-US" sz="1400" dirty="0"/>
              <a:t>빨간 네모</a:t>
            </a:r>
            <a:r>
              <a:rPr lang="en-US" altLang="ko-KR" sz="1400" dirty="0"/>
              <a:t>) </a:t>
            </a:r>
            <a:r>
              <a:rPr lang="ko-KR" altLang="en-US" sz="1400" dirty="0"/>
              <a:t>추가해두면</a:t>
            </a:r>
            <a:endParaRPr lang="en-US" altLang="ko-KR" sz="1400" dirty="0"/>
          </a:p>
          <a:p>
            <a:r>
              <a:rPr lang="ko-KR" altLang="en-US" sz="1400" dirty="0"/>
              <a:t>아이콘 배치</a:t>
            </a:r>
            <a:r>
              <a:rPr lang="en-US" altLang="ko-KR" sz="1400" dirty="0"/>
              <a:t>/</a:t>
            </a:r>
            <a:r>
              <a:rPr lang="ko-KR" altLang="en-US" sz="1400" dirty="0"/>
              <a:t>이미지 수정 </a:t>
            </a:r>
            <a:r>
              <a:rPr lang="ko-KR" altLang="en-US" sz="1400" dirty="0" err="1"/>
              <a:t>해두겠음</a:t>
            </a:r>
            <a:endParaRPr lang="en-US" altLang="ko-KR" sz="1400" dirty="0"/>
          </a:p>
          <a:p>
            <a:r>
              <a:rPr lang="en-US" altLang="ko-KR" sz="1400" dirty="0"/>
              <a:t>   </a:t>
            </a:r>
            <a:r>
              <a:rPr lang="ko-KR" altLang="en-US" sz="1400" dirty="0"/>
              <a:t>←이 아이콘 써두면 됨</a:t>
            </a:r>
            <a:endParaRPr lang="en-US" altLang="ko-KR" sz="14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43E8DD9-C4B4-32C5-AC16-DAC4F5CDF7B5}"/>
              </a:ext>
            </a:extLst>
          </p:cNvPr>
          <p:cNvSpPr/>
          <p:nvPr/>
        </p:nvSpPr>
        <p:spPr>
          <a:xfrm>
            <a:off x="4396509" y="6096000"/>
            <a:ext cx="277091" cy="3833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FCE538F6-F3E9-553E-1C85-EBD6F8ED0D3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2873" y="6453909"/>
            <a:ext cx="22860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1443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29EE9-76A6-FE22-10F6-0641BF360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9AC92590-A3F4-A76F-52CC-7E80FE3377E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D3E083E-B01E-1930-5D08-74EE051599D7}"/>
              </a:ext>
            </a:extLst>
          </p:cNvPr>
          <p:cNvSpPr txBox="1"/>
          <p:nvPr/>
        </p:nvSpPr>
        <p:spPr>
          <a:xfrm>
            <a:off x="669638" y="563419"/>
            <a:ext cx="1036781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0425 PD </a:t>
            </a:r>
            <a:r>
              <a:rPr lang="ko-KR" altLang="en-US" b="1" dirty="0"/>
              <a:t>사라짐 사건</a:t>
            </a:r>
            <a:r>
              <a:rPr lang="en-US" altLang="ko-KR" b="1" dirty="0"/>
              <a:t>2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1A60A88-1BEF-ED99-4A95-4D87283480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166" y="1158873"/>
            <a:ext cx="4120434" cy="231774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ADCD0AF-1D17-94E3-9597-240DE34583BA}"/>
              </a:ext>
            </a:extLst>
          </p:cNvPr>
          <p:cNvSpPr txBox="1"/>
          <p:nvPr/>
        </p:nvSpPr>
        <p:spPr>
          <a:xfrm>
            <a:off x="4790072" y="1158873"/>
            <a:ext cx="6995528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덱 볼 때는 </a:t>
            </a:r>
            <a:r>
              <a:rPr lang="en-US" altLang="ko-KR" sz="1400" dirty="0"/>
              <a:t>DECK, </a:t>
            </a:r>
            <a:r>
              <a:rPr lang="ko-KR" altLang="en-US" sz="1400" dirty="0"/>
              <a:t>카드 </a:t>
            </a:r>
            <a:r>
              <a:rPr lang="ko-KR" altLang="en-US" sz="1400" dirty="0" err="1"/>
              <a:t>전체볼때는</a:t>
            </a:r>
            <a:r>
              <a:rPr lang="ko-KR" altLang="en-US" sz="1400" dirty="0"/>
              <a:t> </a:t>
            </a:r>
            <a:r>
              <a:rPr lang="en-US" altLang="ko-KR" sz="1400" dirty="0"/>
              <a:t>CARDS, </a:t>
            </a:r>
            <a:r>
              <a:rPr lang="ko-KR" altLang="en-US" sz="1400" dirty="0" err="1"/>
              <a:t>묘지볼때는</a:t>
            </a:r>
            <a:r>
              <a:rPr lang="ko-KR" altLang="en-US" sz="1400" dirty="0"/>
              <a:t> </a:t>
            </a:r>
            <a:r>
              <a:rPr lang="en-US" altLang="ko-KR" sz="1400" dirty="0"/>
              <a:t>TRASH</a:t>
            </a:r>
            <a:r>
              <a:rPr lang="ko-KR" altLang="en-US" sz="1400" dirty="0"/>
              <a:t>라고 적어두면 될 듯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en-US" altLang="ko-KR" sz="1400" dirty="0" err="1"/>
              <a:t>UIDeckListPopup</a:t>
            </a:r>
            <a:r>
              <a:rPr lang="en-US" altLang="ko-KR" sz="1400" dirty="0"/>
              <a:t> </a:t>
            </a:r>
            <a:r>
              <a:rPr lang="ko-KR" altLang="en-US" sz="1400" dirty="0" err="1"/>
              <a:t>프리팹만</a:t>
            </a:r>
            <a:r>
              <a:rPr lang="ko-KR" altLang="en-US" sz="1400" dirty="0"/>
              <a:t> </a:t>
            </a:r>
            <a:r>
              <a:rPr lang="ko-KR" altLang="en-US" sz="1400" dirty="0" err="1"/>
              <a:t>수정해뒀는데</a:t>
            </a:r>
            <a:r>
              <a:rPr lang="en-US" altLang="ko-KR" sz="1400" dirty="0"/>
              <a:t>,</a:t>
            </a:r>
          </a:p>
          <a:p>
            <a:r>
              <a:rPr lang="ko-KR" altLang="en-US" sz="1400" dirty="0"/>
              <a:t>형태도 크기도 구조도 같으니까</a:t>
            </a:r>
            <a:r>
              <a:rPr lang="en-US" altLang="ko-KR" sz="1400" dirty="0"/>
              <a:t> </a:t>
            </a:r>
            <a:r>
              <a:rPr lang="ko-KR" altLang="en-US" sz="1400" dirty="0"/>
              <a:t>팝업 형태를 </a:t>
            </a:r>
            <a:r>
              <a:rPr lang="ko-KR" altLang="en-US" sz="1400" dirty="0" err="1"/>
              <a:t>프리팹화시키든</a:t>
            </a:r>
            <a:endParaRPr lang="en-US" altLang="ko-KR" sz="1400" dirty="0"/>
          </a:p>
          <a:p>
            <a:r>
              <a:rPr lang="ko-KR" altLang="en-US" sz="1400" dirty="0"/>
              <a:t>잘 </a:t>
            </a:r>
            <a:r>
              <a:rPr lang="ko-KR" altLang="en-US" sz="1400" dirty="0" err="1"/>
              <a:t>복붙해서</a:t>
            </a:r>
            <a:r>
              <a:rPr lang="ko-KR" altLang="en-US" sz="1400" dirty="0"/>
              <a:t> 모두 </a:t>
            </a:r>
            <a:r>
              <a:rPr lang="ko-KR" altLang="en-US" sz="1400" dirty="0" err="1"/>
              <a:t>적용해주셈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en-US" altLang="ko-KR" sz="1400" dirty="0"/>
              <a:t>-</a:t>
            </a:r>
          </a:p>
          <a:p>
            <a:endParaRPr lang="en-US" altLang="ko-KR" sz="1400" dirty="0"/>
          </a:p>
          <a:p>
            <a:r>
              <a:rPr lang="ko-KR" altLang="en-US" sz="1400" dirty="0"/>
              <a:t>아 텍스트 </a:t>
            </a:r>
            <a:r>
              <a:rPr lang="en-US" altLang="ko-KR" sz="1400" dirty="0"/>
              <a:t>4</a:t>
            </a:r>
            <a:r>
              <a:rPr lang="ko-KR" altLang="en-US" sz="1400" dirty="0"/>
              <a:t>개 </a:t>
            </a:r>
            <a:r>
              <a:rPr lang="ko-KR" altLang="en-US" sz="1400" dirty="0" err="1"/>
              <a:t>겹쳐놓은</a:t>
            </a:r>
            <a:r>
              <a:rPr lang="ko-KR" altLang="en-US" sz="1400" dirty="0"/>
              <a:t> 아웃라인 폰트</a:t>
            </a:r>
            <a:endParaRPr lang="en-US" altLang="ko-KR" sz="1400" dirty="0"/>
          </a:p>
          <a:p>
            <a:r>
              <a:rPr lang="ko-KR" altLang="en-US" sz="1400" dirty="0" err="1"/>
              <a:t>프리팹화</a:t>
            </a:r>
            <a:r>
              <a:rPr lang="ko-KR" altLang="en-US" sz="1400" dirty="0"/>
              <a:t> </a:t>
            </a:r>
            <a:r>
              <a:rPr lang="ko-KR" altLang="en-US" sz="1400" dirty="0" err="1"/>
              <a:t>언제해줄거야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ko-KR" altLang="en-US" sz="1400" dirty="0"/>
              <a:t>특히 상점에 아웃라인 폰트 부분이 너무 많아서</a:t>
            </a:r>
            <a:endParaRPr lang="en-US" altLang="ko-KR" sz="1400" dirty="0"/>
          </a:p>
          <a:p>
            <a:r>
              <a:rPr lang="ko-KR" altLang="en-US" sz="1400" dirty="0"/>
              <a:t>얼른 이 기능이 생겼으면 좋겠다</a:t>
            </a:r>
            <a:r>
              <a:rPr lang="en-US" altLang="ko-KR" sz="1400" dirty="0"/>
              <a:t>.</a:t>
            </a:r>
          </a:p>
          <a:p>
            <a:endParaRPr lang="en-US" altLang="ko-KR" sz="1400" dirty="0"/>
          </a:p>
          <a:p>
            <a:r>
              <a:rPr lang="en-US" altLang="ko-KR" sz="1400" dirty="0"/>
              <a:t>-</a:t>
            </a:r>
          </a:p>
          <a:p>
            <a:endParaRPr lang="en-US" altLang="ko-KR" sz="1400" dirty="0"/>
          </a:p>
          <a:p>
            <a:r>
              <a:rPr lang="en-US" altLang="ko-KR" sz="1400" dirty="0"/>
              <a:t>Request </a:t>
            </a:r>
            <a:r>
              <a:rPr lang="en-US" altLang="ko-KR" sz="1400" dirty="0" err="1"/>
              <a:t>Seccess</a:t>
            </a:r>
            <a:r>
              <a:rPr lang="ko-KR" altLang="en-US" sz="1400" dirty="0"/>
              <a:t>인가</a:t>
            </a:r>
            <a:r>
              <a:rPr lang="en-US" altLang="ko-KR" sz="1400" dirty="0"/>
              <a:t>? </a:t>
            </a:r>
            <a:r>
              <a:rPr lang="ko-KR" altLang="en-US" sz="1400" dirty="0"/>
              <a:t>그거를 이미지로 바꿨음</a:t>
            </a:r>
            <a:endParaRPr lang="en-US" altLang="ko-KR" sz="1400" dirty="0"/>
          </a:p>
          <a:p>
            <a:r>
              <a:rPr lang="ko-KR" altLang="en-US" sz="1400" dirty="0"/>
              <a:t>문제는 </a:t>
            </a:r>
            <a:r>
              <a:rPr lang="en-US" altLang="ko-KR" sz="1400" dirty="0"/>
              <a:t>1</a:t>
            </a:r>
            <a:r>
              <a:rPr lang="ko-KR" altLang="en-US" sz="1400" dirty="0"/>
              <a:t>종류밖에 없었는데</a:t>
            </a:r>
            <a:r>
              <a:rPr lang="en-US" altLang="ko-KR" sz="1400" dirty="0"/>
              <a:t>,</a:t>
            </a:r>
          </a:p>
          <a:p>
            <a:r>
              <a:rPr lang="ko-KR" altLang="en-US" sz="1400" dirty="0"/>
              <a:t>수령</a:t>
            </a:r>
            <a:r>
              <a:rPr lang="en-US" altLang="ko-KR" sz="1400" dirty="0"/>
              <a:t>/</a:t>
            </a:r>
            <a:r>
              <a:rPr lang="ko-KR" altLang="en-US" sz="1400" dirty="0"/>
              <a:t>연장이 가능했던 </a:t>
            </a:r>
            <a:r>
              <a:rPr lang="en-US" altLang="ko-KR" sz="1400" dirty="0" err="1"/>
              <a:t>RequestAddArea</a:t>
            </a:r>
            <a:r>
              <a:rPr lang="ko-KR" altLang="en-US" sz="1400" dirty="0"/>
              <a:t>에서는</a:t>
            </a:r>
            <a:endParaRPr lang="en-US" altLang="ko-KR" sz="1400" dirty="0"/>
          </a:p>
          <a:p>
            <a:r>
              <a:rPr lang="ko-KR" altLang="en-US" sz="1400" dirty="0"/>
              <a:t>수령하면 </a:t>
            </a:r>
            <a:r>
              <a:rPr lang="en-US" altLang="ko-KR" sz="1400" dirty="0"/>
              <a:t>RECEIVED</a:t>
            </a:r>
            <a:r>
              <a:rPr lang="ko-KR" altLang="en-US" sz="1400" dirty="0"/>
              <a:t>가</a:t>
            </a:r>
            <a:r>
              <a:rPr lang="en-US" altLang="ko-KR" sz="1400" dirty="0"/>
              <a:t>,</a:t>
            </a:r>
          </a:p>
          <a:p>
            <a:r>
              <a:rPr lang="ko-KR" altLang="en-US" sz="1400" dirty="0" err="1"/>
              <a:t>추가의뢰했으면</a:t>
            </a:r>
            <a:r>
              <a:rPr lang="ko-KR" altLang="en-US" sz="1400" dirty="0"/>
              <a:t> </a:t>
            </a:r>
            <a:r>
              <a:rPr lang="en-US" altLang="ko-KR" sz="1400" dirty="0"/>
              <a:t>REQUESTED</a:t>
            </a:r>
            <a:r>
              <a:rPr lang="ko-KR" altLang="en-US" sz="1400" dirty="0"/>
              <a:t>가 </a:t>
            </a:r>
            <a:r>
              <a:rPr lang="ko-KR" altLang="en-US" sz="1400" dirty="0" err="1"/>
              <a:t>떠야해서</a:t>
            </a:r>
            <a:r>
              <a:rPr lang="ko-KR" altLang="en-US" sz="1400" dirty="0"/>
              <a:t> 하나 늘렸음→</a:t>
            </a:r>
            <a:endParaRPr lang="en-US" altLang="ko-KR" sz="1400" dirty="0"/>
          </a:p>
          <a:p>
            <a:r>
              <a:rPr lang="ko-KR" altLang="en-US" sz="1400" dirty="0"/>
              <a:t>이거 </a:t>
            </a:r>
            <a:r>
              <a:rPr lang="ko-KR" altLang="en-US" sz="1400" dirty="0" err="1"/>
              <a:t>적용해줘야함</a:t>
            </a:r>
            <a:r>
              <a:rPr lang="en-US" altLang="ko-KR" sz="1400" dirty="0"/>
              <a:t>. </a:t>
            </a:r>
            <a:r>
              <a:rPr lang="ko-KR" altLang="en-US" sz="1400" dirty="0"/>
              <a:t>내가 실수로 </a:t>
            </a:r>
            <a:r>
              <a:rPr lang="en-US" altLang="ko-KR" sz="1400" dirty="0"/>
              <a:t>RECEIVED </a:t>
            </a:r>
            <a:r>
              <a:rPr lang="ko-KR" altLang="en-US" sz="1400" dirty="0"/>
              <a:t>이미지 </a:t>
            </a:r>
            <a:r>
              <a:rPr lang="ko-KR" altLang="en-US" sz="1400" dirty="0" err="1"/>
              <a:t>반투명하게</a:t>
            </a:r>
            <a:r>
              <a:rPr lang="ko-KR" altLang="en-US" sz="1400" dirty="0"/>
              <a:t> </a:t>
            </a:r>
            <a:r>
              <a:rPr lang="ko-KR" altLang="en-US" sz="1400" dirty="0" err="1"/>
              <a:t>넣어놨으니까</a:t>
            </a:r>
            <a:endParaRPr lang="en-US" altLang="ko-KR" sz="1400" dirty="0"/>
          </a:p>
          <a:p>
            <a:r>
              <a:rPr lang="ko-KR" altLang="en-US" sz="1400" dirty="0"/>
              <a:t>이거 하면서 불투명으로 </a:t>
            </a:r>
            <a:r>
              <a:rPr lang="ko-KR" altLang="en-US" sz="1400" dirty="0" err="1"/>
              <a:t>고쳐주셈</a:t>
            </a:r>
            <a:r>
              <a:rPr lang="ko-KR" altLang="en-US" sz="1400" dirty="0"/>
              <a:t> </a:t>
            </a:r>
            <a:r>
              <a:rPr lang="ko-KR" altLang="en-US" sz="1400" dirty="0" err="1"/>
              <a:t>ㅋㅋ</a:t>
            </a:r>
            <a:r>
              <a:rPr lang="en-US" altLang="ko-KR" sz="1400" dirty="0"/>
              <a:t>;</a:t>
            </a:r>
          </a:p>
          <a:p>
            <a:r>
              <a:rPr lang="en-US" altLang="ko-KR" sz="1400" dirty="0"/>
              <a:t>DAY -1</a:t>
            </a:r>
            <a:r>
              <a:rPr lang="ko-KR" altLang="en-US" sz="1400" dirty="0"/>
              <a:t>이라고 며칠차인지 표기하는 텍스트 </a:t>
            </a:r>
            <a:r>
              <a:rPr lang="ko-KR" altLang="en-US" sz="1400" dirty="0" err="1"/>
              <a:t>넣어놨고</a:t>
            </a:r>
            <a:r>
              <a:rPr lang="en-US" altLang="ko-KR" sz="1400" dirty="0"/>
              <a:t>,</a:t>
            </a:r>
          </a:p>
          <a:p>
            <a:r>
              <a:rPr lang="ko-KR" altLang="en-US" sz="1400" dirty="0"/>
              <a:t>상단에 체크마크도 </a:t>
            </a:r>
            <a:r>
              <a:rPr lang="ko-KR" altLang="en-US" sz="1400" dirty="0" err="1"/>
              <a:t>배치해놓음</a:t>
            </a:r>
            <a:r>
              <a:rPr lang="en-US" altLang="ko-KR" sz="1400" dirty="0"/>
              <a:t>.</a:t>
            </a:r>
          </a:p>
          <a:p>
            <a:r>
              <a:rPr lang="ko-KR" altLang="en-US" sz="1400" dirty="0"/>
              <a:t>추가 의뢰 기능이 </a:t>
            </a:r>
            <a:r>
              <a:rPr lang="en-US" altLang="ko-KR" sz="1400" dirty="0"/>
              <a:t>3</a:t>
            </a:r>
            <a:r>
              <a:rPr lang="ko-KR" altLang="en-US" sz="1400" dirty="0"/>
              <a:t>번까지 되기 때문에 그걸 표기하는 기능임</a:t>
            </a:r>
            <a:endParaRPr lang="en-US" altLang="ko-KR" sz="14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A05CA03-6C47-AEF8-B806-242F92957E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8266" y="2550174"/>
            <a:ext cx="2730568" cy="185288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4E09FD7-166A-9E15-4F61-7B67091E9B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9810" y="5211723"/>
            <a:ext cx="1721801" cy="1434834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05C1C33C-1E2C-387C-0EC6-2E60513ECC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78227" y="3752504"/>
            <a:ext cx="1663384" cy="1396531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669F0049-3444-56D1-7639-CBA8BF451B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181" y="4349403"/>
            <a:ext cx="1721801" cy="1487237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21CD9371-5452-4D72-880A-38866FFE19A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13773" y="5066820"/>
            <a:ext cx="1838582" cy="57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6485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CACE6-D6A6-4DC4-D160-15AB88D04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E4392E95-E307-6C5F-33B7-F735601F727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E54957C-E100-CC9C-E286-8EEA26B7F850}"/>
              </a:ext>
            </a:extLst>
          </p:cNvPr>
          <p:cNvSpPr txBox="1"/>
          <p:nvPr/>
        </p:nvSpPr>
        <p:spPr>
          <a:xfrm>
            <a:off x="669637" y="563419"/>
            <a:ext cx="1061719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방해 타일 타격 금지 유물</a:t>
            </a:r>
            <a:endParaRPr lang="en-US" altLang="ko-KR" b="1" dirty="0"/>
          </a:p>
          <a:p>
            <a:endParaRPr lang="en-US" altLang="ko-KR" dirty="0"/>
          </a:p>
          <a:p>
            <a:r>
              <a:rPr lang="ko-KR" altLang="en-US" dirty="0"/>
              <a:t>유물 </a:t>
            </a:r>
            <a:r>
              <a:rPr lang="en-US" altLang="ko-KR" dirty="0"/>
              <a:t>‘</a:t>
            </a:r>
            <a:r>
              <a:rPr lang="ko-KR" altLang="en-US" dirty="0"/>
              <a:t>흔들리는 발판</a:t>
            </a:r>
            <a:r>
              <a:rPr lang="en-US" altLang="ko-KR" dirty="0"/>
              <a:t>’(</a:t>
            </a:r>
            <a:r>
              <a:rPr lang="ko-KR" altLang="en-US" dirty="0"/>
              <a:t>예시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 - [</a:t>
            </a:r>
            <a:r>
              <a:rPr lang="ko-KR" altLang="en-US" dirty="0"/>
              <a:t>불안정</a:t>
            </a:r>
            <a:r>
              <a:rPr lang="en-US" altLang="ko-KR" dirty="0"/>
              <a:t>] </a:t>
            </a:r>
            <a:r>
              <a:rPr lang="ko-KR" altLang="en-US" dirty="0"/>
              <a:t>부여</a:t>
            </a:r>
            <a:r>
              <a:rPr lang="en-US" altLang="ko-KR" dirty="0"/>
              <a:t>, </a:t>
            </a:r>
            <a:r>
              <a:rPr lang="ko-KR" altLang="en-US" dirty="0"/>
              <a:t>불안정 태그 카드 등장 </a:t>
            </a:r>
            <a:r>
              <a:rPr lang="en-US" altLang="ko-KR" dirty="0">
                <a:solidFill>
                  <a:srgbClr val="C00000"/>
                </a:solidFill>
              </a:rPr>
              <a:t>&lt;&lt;</a:t>
            </a:r>
            <a:r>
              <a:rPr lang="ko-KR" altLang="en-US" dirty="0">
                <a:solidFill>
                  <a:srgbClr val="C00000"/>
                </a:solidFill>
              </a:rPr>
              <a:t>특정 층 반드시 등장</a:t>
            </a:r>
            <a:endParaRPr lang="en-US" altLang="ko-KR" dirty="0">
              <a:solidFill>
                <a:srgbClr val="C00000"/>
              </a:solidFill>
            </a:endParaRPr>
          </a:p>
          <a:p>
            <a:endParaRPr lang="en-US" altLang="ko-KR" dirty="0"/>
          </a:p>
          <a:p>
            <a:r>
              <a:rPr lang="ko-KR" altLang="en-US" b="1" dirty="0"/>
              <a:t>불안정 </a:t>
            </a:r>
            <a:r>
              <a:rPr lang="en-US" altLang="ko-KR" b="1" dirty="0"/>
              <a:t>UI </a:t>
            </a:r>
            <a:r>
              <a:rPr lang="en-US" altLang="ko-KR" dirty="0"/>
              <a:t>– </a:t>
            </a:r>
            <a:r>
              <a:rPr lang="ko-KR" altLang="en-US" dirty="0"/>
              <a:t>캐릭터 옆에 게이지 추가 </a:t>
            </a:r>
            <a:r>
              <a:rPr lang="en-US" altLang="ko-KR" dirty="0"/>
              <a:t>/ </a:t>
            </a:r>
            <a:r>
              <a:rPr lang="ko-KR" altLang="en-US" dirty="0"/>
              <a:t>게이지 </a:t>
            </a:r>
            <a:r>
              <a:rPr lang="en-US" altLang="ko-KR" dirty="0"/>
              <a:t>UI</a:t>
            </a:r>
            <a:r>
              <a:rPr lang="ko-KR" altLang="en-US" dirty="0"/>
              <a:t>에 마우스 </a:t>
            </a:r>
            <a:r>
              <a:rPr lang="ko-KR" altLang="en-US" dirty="0" err="1"/>
              <a:t>오버시</a:t>
            </a:r>
            <a:r>
              <a:rPr lang="ko-KR" altLang="en-US" dirty="0"/>
              <a:t> 설명 표기</a:t>
            </a:r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최대 </a:t>
            </a:r>
            <a:r>
              <a:rPr lang="en-US" altLang="ko-KR" dirty="0"/>
              <a:t>10 / </a:t>
            </a:r>
            <a:r>
              <a:rPr lang="ko-KR" altLang="en-US" dirty="0"/>
              <a:t>방해 타일 </a:t>
            </a:r>
            <a:r>
              <a:rPr lang="ko-KR" altLang="en-US" dirty="0" err="1"/>
              <a:t>타격시</a:t>
            </a:r>
            <a:r>
              <a:rPr lang="ko-KR" altLang="en-US" dirty="0"/>
              <a:t> </a:t>
            </a:r>
            <a:r>
              <a:rPr lang="en-US" altLang="ko-KR" dirty="0"/>
              <a:t>+ 1 / 10 </a:t>
            </a:r>
            <a:r>
              <a:rPr lang="ko-KR" altLang="en-US" dirty="0" err="1"/>
              <a:t>달성시</a:t>
            </a:r>
            <a:r>
              <a:rPr lang="ko-KR" altLang="en-US" dirty="0"/>
              <a:t> 게임 오버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b="1" dirty="0"/>
              <a:t>유물</a:t>
            </a:r>
            <a:endParaRPr lang="en-US" altLang="ko-KR" b="1" dirty="0"/>
          </a:p>
          <a:p>
            <a:r>
              <a:rPr lang="ko-KR" altLang="en-US" dirty="0"/>
              <a:t>불안정</a:t>
            </a:r>
            <a:r>
              <a:rPr lang="en-US" altLang="ko-KR" dirty="0"/>
              <a:t> </a:t>
            </a:r>
            <a:r>
              <a:rPr lang="ko-KR" altLang="en-US" dirty="0"/>
              <a:t>룬 </a:t>
            </a:r>
            <a:r>
              <a:rPr lang="en-US" altLang="ko-KR" dirty="0"/>
              <a:t>– </a:t>
            </a:r>
            <a:r>
              <a:rPr lang="ko-KR" altLang="en-US" dirty="0"/>
              <a:t>불안정이 </a:t>
            </a:r>
            <a:r>
              <a:rPr lang="en-US" altLang="ko-KR" dirty="0"/>
              <a:t>1 </a:t>
            </a:r>
            <a:r>
              <a:rPr lang="ko-KR" altLang="en-US" dirty="0"/>
              <a:t>이하로 내려가지 않음</a:t>
            </a:r>
            <a:r>
              <a:rPr lang="en-US" altLang="ko-KR" dirty="0"/>
              <a:t>(</a:t>
            </a:r>
            <a:r>
              <a:rPr lang="ko-KR" altLang="en-US" dirty="0"/>
              <a:t>이미 불안정 룬을 가지고 있다면 다음 단계로 변경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불안정 룬</a:t>
            </a:r>
            <a:r>
              <a:rPr lang="en-US" altLang="ko-KR" dirty="0"/>
              <a:t>+ - </a:t>
            </a:r>
            <a:r>
              <a:rPr lang="ko-KR" altLang="en-US" dirty="0"/>
              <a:t>불안정이 </a:t>
            </a:r>
            <a:r>
              <a:rPr lang="en-US" altLang="ko-KR" dirty="0"/>
              <a:t>2 </a:t>
            </a:r>
            <a:r>
              <a:rPr lang="ko-KR" altLang="en-US" dirty="0"/>
              <a:t>이하로 내려가지 않음</a:t>
            </a:r>
            <a:endParaRPr lang="en-US" altLang="ko-KR" dirty="0"/>
          </a:p>
          <a:p>
            <a:r>
              <a:rPr lang="ko-KR" altLang="en-US" dirty="0"/>
              <a:t>불안정 룬</a:t>
            </a:r>
            <a:r>
              <a:rPr lang="en-US" altLang="ko-KR" dirty="0"/>
              <a:t>++ - </a:t>
            </a:r>
            <a:r>
              <a:rPr lang="ko-KR" altLang="en-US" dirty="0"/>
              <a:t>불안정이 </a:t>
            </a:r>
            <a:r>
              <a:rPr lang="en-US" altLang="ko-KR" dirty="0"/>
              <a:t>3 </a:t>
            </a:r>
            <a:r>
              <a:rPr lang="ko-KR" altLang="en-US" dirty="0"/>
              <a:t>이하로 내려가지 않음</a:t>
            </a:r>
            <a:r>
              <a:rPr lang="en-US" altLang="ko-KR" dirty="0"/>
              <a:t>… </a:t>
            </a:r>
            <a:r>
              <a:rPr lang="ko-KR" altLang="en-US" dirty="0"/>
              <a:t>등으로 총 타격 횟수 낮춰 난이도 올리기</a:t>
            </a:r>
            <a:endParaRPr lang="en-US" altLang="ko-KR" dirty="0"/>
          </a:p>
          <a:p>
            <a:r>
              <a:rPr lang="en-US" altLang="ko-KR" dirty="0"/>
              <a:t>‘</a:t>
            </a:r>
            <a:r>
              <a:rPr lang="ko-KR" altLang="en-US" dirty="0"/>
              <a:t>무너지는 발판</a:t>
            </a:r>
            <a:r>
              <a:rPr lang="en-US" altLang="ko-KR" dirty="0"/>
              <a:t>’ – [</a:t>
            </a:r>
            <a:r>
              <a:rPr lang="ko-KR" altLang="en-US" dirty="0"/>
              <a:t>불안정</a:t>
            </a:r>
            <a:r>
              <a:rPr lang="en-US" altLang="ko-KR" dirty="0"/>
              <a:t>]</a:t>
            </a:r>
            <a:r>
              <a:rPr lang="ko-KR" altLang="en-US" dirty="0"/>
              <a:t>이 초기화 되지 않음 </a:t>
            </a:r>
            <a:r>
              <a:rPr lang="en-US" altLang="ko-KR" dirty="0">
                <a:solidFill>
                  <a:srgbClr val="C00000"/>
                </a:solidFill>
              </a:rPr>
              <a:t>&lt;&lt;</a:t>
            </a:r>
            <a:r>
              <a:rPr lang="ko-KR" altLang="en-US" dirty="0">
                <a:solidFill>
                  <a:srgbClr val="C00000"/>
                </a:solidFill>
              </a:rPr>
              <a:t>특정 층 반드시 등장</a:t>
            </a:r>
            <a:endParaRPr lang="en-US" altLang="ko-KR" dirty="0">
              <a:solidFill>
                <a:srgbClr val="C00000"/>
              </a:solidFill>
            </a:endParaRPr>
          </a:p>
          <a:p>
            <a:endParaRPr lang="en-US" altLang="ko-KR" dirty="0"/>
          </a:p>
          <a:p>
            <a:r>
              <a:rPr lang="ko-KR" altLang="en-US" b="1" dirty="0"/>
              <a:t>카드</a:t>
            </a:r>
            <a:endParaRPr lang="en-US" altLang="ko-KR" b="1" dirty="0"/>
          </a:p>
          <a:p>
            <a:r>
              <a:rPr lang="en-US" altLang="ko-KR" dirty="0"/>
              <a:t> </a:t>
            </a:r>
            <a:r>
              <a:rPr lang="ko-KR" altLang="en-US" dirty="0"/>
              <a:t>불안정 회복</a:t>
            </a:r>
            <a:r>
              <a:rPr lang="en-US" altLang="ko-KR" dirty="0"/>
              <a:t>, </a:t>
            </a:r>
            <a:r>
              <a:rPr lang="ko-KR" altLang="en-US" dirty="0"/>
              <a:t>불안정 방지 카드</a:t>
            </a:r>
            <a:r>
              <a:rPr lang="en-US" altLang="ko-KR" dirty="0"/>
              <a:t>, </a:t>
            </a:r>
            <a:r>
              <a:rPr lang="ko-KR" altLang="en-US" dirty="0"/>
              <a:t>불안정을 증가하고 보너스를 받는</a:t>
            </a:r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등을 </a:t>
            </a:r>
            <a:r>
              <a:rPr lang="en-US" altLang="ko-KR" dirty="0"/>
              <a:t>[</a:t>
            </a:r>
            <a:r>
              <a:rPr lang="ko-KR" altLang="en-US" dirty="0"/>
              <a:t>불안정</a:t>
            </a:r>
            <a:r>
              <a:rPr lang="en-US" altLang="ko-KR" dirty="0"/>
              <a:t>]</a:t>
            </a:r>
            <a:r>
              <a:rPr lang="ko-KR" altLang="en-US" dirty="0"/>
              <a:t> 태그 달고 추가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1791738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69C0B-AEDE-1A8B-43C6-0882E943A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이미지">
            <a:extLst>
              <a:ext uri="{FF2B5EF4-FFF2-40B4-BE49-F238E27FC236}">
                <a16:creationId xmlns:a16="http://schemas.microsoft.com/office/drawing/2014/main" id="{898F9542-4E26-03C7-CCDB-55A9AC6DDA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946" y="1007051"/>
            <a:ext cx="5805054" cy="3265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6C0111D-AE8B-B586-D799-FB33CD69B1A9}"/>
              </a:ext>
            </a:extLst>
          </p:cNvPr>
          <p:cNvSpPr txBox="1"/>
          <p:nvPr/>
        </p:nvSpPr>
        <p:spPr>
          <a:xfrm>
            <a:off x="715820" y="572655"/>
            <a:ext cx="10367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스테이지 클리어 </a:t>
            </a:r>
            <a:r>
              <a:rPr lang="en-US" altLang="ko-KR" b="1" dirty="0"/>
              <a:t>– </a:t>
            </a:r>
            <a:r>
              <a:rPr lang="ko-KR" altLang="en-US" b="1" dirty="0"/>
              <a:t>획득 골드 </a:t>
            </a:r>
            <a:r>
              <a:rPr lang="en-US" altLang="ko-KR" b="1" dirty="0"/>
              <a:t>UI </a:t>
            </a:r>
            <a:r>
              <a:rPr lang="ko-KR" altLang="en-US" b="1" dirty="0"/>
              <a:t>변경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C63FB7-DC4C-E65B-E3D1-84AAD9F75CA5}"/>
              </a:ext>
            </a:extLst>
          </p:cNvPr>
          <p:cNvSpPr txBox="1"/>
          <p:nvPr/>
        </p:nvSpPr>
        <p:spPr>
          <a:xfrm>
            <a:off x="6216073" y="1007338"/>
            <a:ext cx="580505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“</a:t>
            </a:r>
            <a:r>
              <a:rPr lang="ko-KR" altLang="en-US" sz="1400" b="1" dirty="0"/>
              <a:t>무엇에 의해 획득 골드가 증가했는지 다 보여주는 게 좋지 않음</a:t>
            </a:r>
            <a:r>
              <a:rPr lang="en-US" altLang="ko-KR" sz="1400" b="1" dirty="0"/>
              <a:t>?”</a:t>
            </a:r>
          </a:p>
          <a:p>
            <a:r>
              <a:rPr lang="ko-KR" altLang="en-US" sz="1400" dirty="0"/>
              <a:t>이라는 의견으로 인해 변경됨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ko-KR" altLang="en-US" sz="1400" dirty="0"/>
              <a:t>기존 심플한 연출의 이유였던 </a:t>
            </a:r>
            <a:r>
              <a:rPr lang="en-US" altLang="ko-KR" sz="1400" dirty="0"/>
              <a:t>“</a:t>
            </a:r>
            <a:r>
              <a:rPr lang="ko-KR" altLang="en-US" sz="1400" dirty="0"/>
              <a:t>획득한 골드의 출처를 모두 설명하면 연출이 너무 복잡하거나 길어질 수 있어서</a:t>
            </a:r>
            <a:r>
              <a:rPr lang="en-US" altLang="ko-KR" sz="1400" dirty="0"/>
              <a:t>”</a:t>
            </a:r>
            <a:r>
              <a:rPr lang="ko-KR" altLang="en-US" sz="1400" dirty="0"/>
              <a:t>라는 문제를 해결하기 위해 </a:t>
            </a:r>
            <a:r>
              <a:rPr lang="en-US" altLang="ko-KR" sz="1400" dirty="0"/>
              <a:t>UI </a:t>
            </a:r>
            <a:r>
              <a:rPr lang="ko-KR" altLang="en-US" sz="1400" dirty="0"/>
              <a:t>배치가 크게 수정됨</a:t>
            </a:r>
            <a:endParaRPr lang="en-US" altLang="ko-KR" sz="14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ED1CBA9-277B-8684-C455-B4E567AF1F03}"/>
              </a:ext>
            </a:extLst>
          </p:cNvPr>
          <p:cNvSpPr/>
          <p:nvPr/>
        </p:nvSpPr>
        <p:spPr>
          <a:xfrm>
            <a:off x="2724727" y="2530764"/>
            <a:ext cx="942109" cy="3140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6C71FC5B-39E9-F8CF-696D-D43679E3C183}"/>
              </a:ext>
            </a:extLst>
          </p:cNvPr>
          <p:cNvCxnSpPr>
            <a:cxnSpLocks/>
          </p:cNvCxnSpPr>
          <p:nvPr/>
        </p:nvCxnSpPr>
        <p:spPr>
          <a:xfrm>
            <a:off x="3666836" y="2669310"/>
            <a:ext cx="254923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F8471C2-34ED-81C3-B3A7-8E1E3A5939EB}"/>
              </a:ext>
            </a:extLst>
          </p:cNvPr>
          <p:cNvSpPr txBox="1"/>
          <p:nvPr/>
        </p:nvSpPr>
        <p:spPr>
          <a:xfrm>
            <a:off x="6216073" y="2475459"/>
            <a:ext cx="580505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이건 원래 있던 것 </a:t>
            </a:r>
            <a:r>
              <a:rPr lang="en-US" altLang="ko-KR" sz="1400" dirty="0"/>
              <a:t>“</a:t>
            </a:r>
            <a:r>
              <a:rPr lang="ko-KR" altLang="en-US" sz="1400" dirty="0"/>
              <a:t>획득한  카드 수</a:t>
            </a:r>
            <a:r>
              <a:rPr lang="en-US" altLang="ko-KR" sz="1400" dirty="0"/>
              <a:t>”</a:t>
            </a:r>
            <a:r>
              <a:rPr lang="ko-KR" altLang="en-US" sz="1400" dirty="0"/>
              <a:t>임</a:t>
            </a:r>
            <a:endParaRPr lang="en-US" altLang="ko-KR" sz="1400" dirty="0"/>
          </a:p>
          <a:p>
            <a:r>
              <a:rPr lang="en-US" altLang="ko-KR" sz="1400" dirty="0"/>
              <a:t>’</a:t>
            </a:r>
            <a:r>
              <a:rPr lang="ko-KR" altLang="en-US" sz="1400" dirty="0"/>
              <a:t>카드 선택창 횟수</a:t>
            </a:r>
            <a:r>
              <a:rPr lang="en-US" altLang="ko-KR" sz="1400" dirty="0"/>
              <a:t>’x’</a:t>
            </a:r>
            <a:r>
              <a:rPr lang="ko-KR" altLang="en-US" sz="1400" dirty="0"/>
              <a:t>한번의 선택창에서 가져갈 수 있는 카드 매수</a:t>
            </a:r>
            <a:r>
              <a:rPr lang="en-US" altLang="ko-KR" sz="1400" dirty="0"/>
              <a:t>’</a:t>
            </a:r>
            <a:r>
              <a:rPr lang="ko-KR" altLang="en-US" sz="1400" dirty="0"/>
              <a:t>가 늘어나는 만큼 표시되어야 함</a:t>
            </a:r>
            <a:endParaRPr lang="en-US" altLang="ko-KR" sz="1400" dirty="0"/>
          </a:p>
          <a:p>
            <a:r>
              <a:rPr lang="ko-KR" altLang="en-US" sz="1400" dirty="0"/>
              <a:t>아직 리소스는 없지만</a:t>
            </a:r>
            <a:r>
              <a:rPr lang="en-US" altLang="ko-KR" sz="1400" dirty="0"/>
              <a:t>, </a:t>
            </a:r>
            <a:r>
              <a:rPr lang="ko-KR" altLang="en-US" sz="1400" dirty="0"/>
              <a:t>일정 스테이지마다 </a:t>
            </a:r>
            <a:r>
              <a:rPr lang="ko-KR" altLang="en-US" sz="1400" dirty="0" err="1"/>
              <a:t>고레어</a:t>
            </a:r>
            <a:r>
              <a:rPr lang="ko-KR" altLang="en-US" sz="1400" dirty="0"/>
              <a:t> 카드가 보상으로 나오는 경우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고레어</a:t>
            </a:r>
            <a:r>
              <a:rPr lang="ko-KR" altLang="en-US" sz="1400" dirty="0"/>
              <a:t> 카드라는 걸 알 수 있는 차별화된 아이콘을 </a:t>
            </a:r>
            <a:r>
              <a:rPr lang="ko-KR" altLang="en-US" sz="1400" dirty="0" err="1"/>
              <a:t>띄울거니까</a:t>
            </a:r>
            <a:r>
              <a:rPr lang="ko-KR" altLang="en-US" sz="1400" dirty="0"/>
              <a:t> 이건 고려해 두는 게 좋을 듯 →</a:t>
            </a:r>
            <a:endParaRPr lang="en-US" altLang="ko-KR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A1B680-2377-5FFE-14F5-E15BDE2804D9}"/>
              </a:ext>
            </a:extLst>
          </p:cNvPr>
          <p:cNvSpPr txBox="1"/>
          <p:nvPr/>
        </p:nvSpPr>
        <p:spPr>
          <a:xfrm>
            <a:off x="6216073" y="3925783"/>
            <a:ext cx="580505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유물 효과</a:t>
            </a:r>
            <a:r>
              <a:rPr lang="en-US" altLang="ko-KR" sz="1400" dirty="0"/>
              <a:t>(</a:t>
            </a:r>
            <a:r>
              <a:rPr lang="ko-KR" altLang="en-US" sz="1400" dirty="0"/>
              <a:t>좌측</a:t>
            </a:r>
            <a:r>
              <a:rPr lang="en-US" altLang="ko-KR" sz="1400" dirty="0"/>
              <a:t>,</a:t>
            </a:r>
            <a:r>
              <a:rPr lang="ko-KR" altLang="en-US" sz="1400" dirty="0"/>
              <a:t>먼저 획득한 유물부터</a:t>
            </a:r>
            <a:r>
              <a:rPr lang="en-US" altLang="ko-KR" sz="1400" dirty="0"/>
              <a:t>)</a:t>
            </a:r>
            <a:r>
              <a:rPr lang="ko-KR" altLang="en-US" sz="1400" dirty="0"/>
              <a:t>부터 순차적으로</a:t>
            </a:r>
            <a:r>
              <a:rPr lang="en-US" altLang="ko-KR" sz="1400" dirty="0"/>
              <a:t>,</a:t>
            </a:r>
          </a:p>
          <a:p>
            <a:r>
              <a:rPr lang="ko-KR" altLang="en-US" sz="1400" dirty="0"/>
              <a:t>→ </a:t>
            </a:r>
            <a:r>
              <a:rPr lang="en-US" altLang="ko-KR" sz="1400" dirty="0"/>
              <a:t>x1.5 score </a:t>
            </a:r>
            <a:r>
              <a:rPr lang="ko-KR" altLang="en-US" sz="1400" dirty="0"/>
              <a:t>→ 퍼펙트 보너스</a:t>
            </a:r>
            <a:r>
              <a:rPr lang="en-US" altLang="ko-KR" sz="1400" dirty="0"/>
              <a:t> </a:t>
            </a:r>
            <a:r>
              <a:rPr lang="ko-KR" altLang="en-US" sz="1400" dirty="0"/>
              <a:t>순으로 </a:t>
            </a:r>
            <a:r>
              <a:rPr lang="en-US" altLang="ko-KR" sz="1400" dirty="0">
                <a:solidFill>
                  <a:schemeClr val="bg2">
                    <a:lumMod val="75000"/>
                  </a:schemeClr>
                </a:solidFill>
              </a:rPr>
              <a:t>(</a:t>
            </a:r>
            <a:r>
              <a:rPr lang="ko-KR" altLang="en-US" sz="1400" dirty="0" err="1">
                <a:solidFill>
                  <a:schemeClr val="bg2">
                    <a:lumMod val="75000"/>
                  </a:schemeClr>
                </a:solidFill>
              </a:rPr>
              <a:t>이미지랑</a:t>
            </a:r>
            <a:r>
              <a:rPr lang="ko-KR" altLang="en-US" sz="1400" dirty="0">
                <a:solidFill>
                  <a:schemeClr val="bg2">
                    <a:lumMod val="75000"/>
                  </a:schemeClr>
                </a:solidFill>
              </a:rPr>
              <a:t> 순서 다름</a:t>
            </a:r>
            <a:r>
              <a:rPr lang="en-US" altLang="ko-KR" sz="1400" dirty="0">
                <a:solidFill>
                  <a:schemeClr val="bg2">
                    <a:lumMod val="75000"/>
                  </a:schemeClr>
                </a:solidFill>
              </a:rPr>
              <a:t>)</a:t>
            </a:r>
          </a:p>
          <a:p>
            <a:r>
              <a:rPr lang="ko-KR" altLang="en-US" sz="1400" dirty="0"/>
              <a:t>정산되듯이 나올 것임</a:t>
            </a:r>
            <a:r>
              <a:rPr lang="en-US" altLang="ko-KR" sz="1400" dirty="0"/>
              <a:t>. </a:t>
            </a:r>
            <a:r>
              <a:rPr lang="ko-KR" altLang="en-US" sz="1400" dirty="0"/>
              <a:t>연출 템포는 매우 </a:t>
            </a:r>
            <a:r>
              <a:rPr lang="ko-KR" altLang="en-US" sz="1400" dirty="0" err="1"/>
              <a:t>빠르길</a:t>
            </a:r>
            <a:r>
              <a:rPr lang="ko-KR" altLang="en-US" sz="1400" dirty="0"/>
              <a:t> 원함</a:t>
            </a:r>
            <a:endParaRPr lang="en-US" altLang="ko-KR" sz="1400" dirty="0"/>
          </a:p>
          <a:p>
            <a:r>
              <a:rPr lang="en-US" altLang="ko-KR" sz="1400" dirty="0"/>
              <a:t>(</a:t>
            </a:r>
            <a:r>
              <a:rPr lang="ko-KR" altLang="en-US" sz="1400" dirty="0"/>
              <a:t>그러면서도 클릭으로 </a:t>
            </a:r>
            <a:r>
              <a:rPr lang="ko-KR" altLang="en-US" sz="1400" dirty="0" err="1"/>
              <a:t>스킵되는게</a:t>
            </a:r>
            <a:r>
              <a:rPr lang="ko-KR" altLang="en-US" sz="1400" dirty="0"/>
              <a:t> 좋겠지</a:t>
            </a:r>
            <a:r>
              <a:rPr lang="en-US" altLang="ko-KR" sz="1400" dirty="0"/>
              <a:t>…?)</a:t>
            </a:r>
          </a:p>
          <a:p>
            <a:r>
              <a:rPr lang="ko-KR" altLang="en-US" sz="1400" dirty="0"/>
              <a:t>△▽버튼으로 살펴볼 수 있음</a:t>
            </a:r>
            <a:r>
              <a:rPr lang="en-US" altLang="ko-KR" sz="1400" dirty="0"/>
              <a:t>, </a:t>
            </a:r>
            <a:r>
              <a:rPr lang="en-US" altLang="ko-KR" sz="1400" b="1" dirty="0">
                <a:solidFill>
                  <a:srgbClr val="FF0000"/>
                </a:solidFill>
              </a:rPr>
              <a:t>※</a:t>
            </a:r>
            <a:r>
              <a:rPr lang="ko-KR" altLang="en-US" sz="1400" b="1" dirty="0" err="1">
                <a:solidFill>
                  <a:srgbClr val="FF0000"/>
                </a:solidFill>
              </a:rPr>
              <a:t>버튼식이고</a:t>
            </a:r>
            <a:r>
              <a:rPr lang="ko-KR" altLang="en-US" sz="1400" b="1" dirty="0">
                <a:solidFill>
                  <a:srgbClr val="FF0000"/>
                </a:solidFill>
              </a:rPr>
              <a:t> 스크롤 아님</a:t>
            </a:r>
            <a:r>
              <a:rPr lang="en-US" altLang="ko-KR" sz="1400" dirty="0"/>
              <a:t>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B4F8D3C-E580-A230-0E57-BB2643F1CA72}"/>
              </a:ext>
            </a:extLst>
          </p:cNvPr>
          <p:cNvSpPr/>
          <p:nvPr/>
        </p:nvSpPr>
        <p:spPr>
          <a:xfrm>
            <a:off x="2373746" y="2854206"/>
            <a:ext cx="1671782" cy="6925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38352806-6F9F-7DDB-B7F3-71C070AA533B}"/>
              </a:ext>
            </a:extLst>
          </p:cNvPr>
          <p:cNvCxnSpPr>
            <a:cxnSpLocks/>
          </p:cNvCxnSpPr>
          <p:nvPr/>
        </p:nvCxnSpPr>
        <p:spPr>
          <a:xfrm>
            <a:off x="4045528" y="3191164"/>
            <a:ext cx="2170545" cy="8820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27A481C-A4FE-EDAD-1C19-C12D5C8E18E4}"/>
              </a:ext>
            </a:extLst>
          </p:cNvPr>
          <p:cNvSpPr/>
          <p:nvPr/>
        </p:nvSpPr>
        <p:spPr>
          <a:xfrm>
            <a:off x="2373746" y="3556169"/>
            <a:ext cx="1671782" cy="1754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D0FA4681-E1A4-7647-4EE4-174D50D3E9D7}"/>
              </a:ext>
            </a:extLst>
          </p:cNvPr>
          <p:cNvCxnSpPr>
            <a:cxnSpLocks/>
          </p:cNvCxnSpPr>
          <p:nvPr/>
        </p:nvCxnSpPr>
        <p:spPr>
          <a:xfrm>
            <a:off x="4045528" y="3643913"/>
            <a:ext cx="2170545" cy="167701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CFB7EA8-1EC7-2B58-7DC5-9883010A28DE}"/>
              </a:ext>
            </a:extLst>
          </p:cNvPr>
          <p:cNvSpPr txBox="1"/>
          <p:nvPr/>
        </p:nvSpPr>
        <p:spPr>
          <a:xfrm>
            <a:off x="6216073" y="5160663"/>
            <a:ext cx="5805054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err="1"/>
              <a:t>네자릿수까지</a:t>
            </a:r>
            <a:r>
              <a:rPr lang="ko-KR" altLang="en-US" sz="1400" dirty="0"/>
              <a:t> 표시됨</a:t>
            </a:r>
            <a:r>
              <a:rPr lang="en-US" altLang="ko-KR" sz="1400" dirty="0"/>
              <a:t>. 9999G</a:t>
            </a:r>
            <a:r>
              <a:rPr lang="ko-KR" altLang="en-US" sz="1400" dirty="0"/>
              <a:t>넘어가면 </a:t>
            </a:r>
            <a:r>
              <a:rPr lang="en-US" altLang="ko-KR" sz="1400" dirty="0"/>
              <a:t>10K</a:t>
            </a:r>
            <a:r>
              <a:rPr lang="ko-KR" altLang="en-US" sz="1400" dirty="0"/>
              <a:t>부터 표시됨</a:t>
            </a:r>
            <a:r>
              <a:rPr lang="en-US" altLang="ko-KR" sz="1400" dirty="0"/>
              <a:t>. (</a:t>
            </a:r>
            <a:r>
              <a:rPr lang="ko-KR" altLang="en-US" sz="1400" dirty="0"/>
              <a:t>소수점 날림</a:t>
            </a:r>
            <a:r>
              <a:rPr lang="en-US" altLang="ko-KR" sz="1400" dirty="0"/>
              <a:t>)</a:t>
            </a:r>
          </a:p>
          <a:p>
            <a:r>
              <a:rPr lang="ko-KR" altLang="en-US" sz="1400" dirty="0"/>
              <a:t>리스트가 정산되는 순간</a:t>
            </a:r>
            <a:r>
              <a:rPr lang="en-US" altLang="ko-KR" sz="1400" dirty="0"/>
              <a:t>,</a:t>
            </a:r>
            <a:r>
              <a:rPr lang="ko-KR" altLang="en-US" sz="1400" dirty="0"/>
              <a:t> 바로바로 그 수치만큼 올라가고</a:t>
            </a:r>
            <a:endParaRPr lang="en-US" altLang="ko-KR" sz="1400" dirty="0"/>
          </a:p>
          <a:p>
            <a:r>
              <a:rPr lang="ko-KR" altLang="en-US" sz="1400" dirty="0"/>
              <a:t>다 끝난 뒤 클릭하면 똑같이 지갑으로 들어가는 연출 재생</a:t>
            </a:r>
            <a:endParaRPr lang="en-US" altLang="ko-KR" sz="1400" dirty="0"/>
          </a:p>
          <a:p>
            <a:r>
              <a:rPr lang="ko-KR" altLang="en-US" sz="1400" dirty="0"/>
              <a:t>이 때 연출은 일정 프레임마다 돈이 떨어지는 속도감이 있어야 되니까</a:t>
            </a:r>
            <a:endParaRPr lang="en-US" altLang="ko-KR" sz="1400" dirty="0"/>
          </a:p>
          <a:p>
            <a:r>
              <a:rPr lang="ko-KR" altLang="en-US" sz="1400" dirty="0"/>
              <a:t>빨리 끝나는 건 가능한데</a:t>
            </a:r>
            <a:r>
              <a:rPr lang="en-US" altLang="ko-KR" sz="1400" dirty="0"/>
              <a:t>,</a:t>
            </a:r>
          </a:p>
          <a:p>
            <a:r>
              <a:rPr lang="ko-KR" altLang="en-US" sz="1400" dirty="0"/>
              <a:t>반대로 너무 수가 커지면</a:t>
            </a:r>
            <a:r>
              <a:rPr lang="en-US" altLang="ko-KR" sz="1400" dirty="0"/>
              <a:t>, </a:t>
            </a:r>
            <a:r>
              <a:rPr lang="ko-KR" altLang="en-US" sz="1400" dirty="0"/>
              <a:t>최대 연출 시간은 </a:t>
            </a:r>
            <a:r>
              <a:rPr lang="ko-KR" altLang="en-US" sz="1400" dirty="0" err="1"/>
              <a:t>정해뒀으면</a:t>
            </a:r>
            <a:r>
              <a:rPr lang="ko-KR" altLang="en-US" sz="1400" dirty="0"/>
              <a:t> 해서</a:t>
            </a:r>
            <a:r>
              <a:rPr lang="en-US" altLang="ko-KR" sz="1400" dirty="0"/>
              <a:t>,</a:t>
            </a:r>
          </a:p>
          <a:p>
            <a:r>
              <a:rPr lang="ko-KR" altLang="en-US" sz="1400" dirty="0"/>
              <a:t>줄어드는 수도 비례하게 해서 시간 맞췄으면 </a:t>
            </a:r>
            <a:r>
              <a:rPr lang="en-US" altLang="ko-KR" sz="1400" dirty="0"/>
              <a:t>(</a:t>
            </a:r>
            <a:r>
              <a:rPr lang="ko-KR" altLang="en-US" sz="1400" dirty="0"/>
              <a:t>약 </a:t>
            </a:r>
            <a:r>
              <a:rPr lang="en-US" altLang="ko-KR" sz="1400" dirty="0"/>
              <a:t>2</a:t>
            </a:r>
            <a:r>
              <a:rPr lang="ko-KR" altLang="en-US" sz="1400" dirty="0"/>
              <a:t>초 정도로 생각 중</a:t>
            </a:r>
            <a:r>
              <a:rPr lang="en-US" altLang="ko-KR" sz="1400" dirty="0"/>
              <a:t>)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672960C6-9C53-A789-CBA3-21CEB7F4B0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6184" y="3632200"/>
            <a:ext cx="383460" cy="378523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5B86E4D3-D154-9450-E363-1915A7029F7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182" y="4412902"/>
            <a:ext cx="2676235" cy="236064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18ADC38-28F7-26A9-210C-72EE012E0096}"/>
              </a:ext>
            </a:extLst>
          </p:cNvPr>
          <p:cNvSpPr txBox="1"/>
          <p:nvPr/>
        </p:nvSpPr>
        <p:spPr>
          <a:xfrm>
            <a:off x="2976417" y="4402836"/>
            <a:ext cx="229523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*Se: </a:t>
            </a:r>
          </a:p>
          <a:p>
            <a:r>
              <a:rPr lang="ko-KR" altLang="en-US" sz="1400" dirty="0"/>
              <a:t>리스트 하나 올라갈 때마</a:t>
            </a:r>
            <a:endParaRPr lang="en-US" altLang="ko-KR" sz="1400" dirty="0"/>
          </a:p>
          <a:p>
            <a:r>
              <a:rPr lang="ko-KR" altLang="en-US" sz="1400" dirty="0"/>
              <a:t>다 시스템 </a:t>
            </a:r>
            <a:r>
              <a:rPr lang="en-US" altLang="ko-KR" sz="1400" dirty="0"/>
              <a:t>BEEP</a:t>
            </a:r>
            <a:r>
              <a:rPr lang="ko-KR" altLang="en-US" sz="1400" dirty="0"/>
              <a:t>음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ko-KR" altLang="en-US" sz="1400" b="1" dirty="0">
                <a:solidFill>
                  <a:srgbClr val="FF0000"/>
                </a:solidFill>
              </a:rPr>
              <a:t>△▽ 버튼은</a:t>
            </a:r>
            <a:endParaRPr lang="en-US" altLang="ko-KR" sz="1400" b="1" dirty="0">
              <a:solidFill>
                <a:srgbClr val="FF0000"/>
              </a:solidFill>
            </a:endParaRPr>
          </a:p>
          <a:p>
            <a:r>
              <a:rPr lang="ko-KR" altLang="en-US" sz="1400" b="1" dirty="0">
                <a:solidFill>
                  <a:srgbClr val="FF0000"/>
                </a:solidFill>
              </a:rPr>
              <a:t>넘길 게 있을 때만 등장</a:t>
            </a:r>
            <a:r>
              <a:rPr lang="en-US" altLang="ko-KR" sz="1400" b="1" dirty="0">
                <a:solidFill>
                  <a:srgbClr val="FF0000"/>
                </a:solidFill>
              </a:rPr>
              <a:t>!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F8EC50E-44DD-A5D3-E4A9-A81DA68DE5D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4" y="572655"/>
            <a:ext cx="281709" cy="281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862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90A43-7337-358A-5DAB-E945E5921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5001250-F8B1-3BE1-D5A8-2BB2B5B3347F}"/>
              </a:ext>
            </a:extLst>
          </p:cNvPr>
          <p:cNvSpPr txBox="1"/>
          <p:nvPr/>
        </p:nvSpPr>
        <p:spPr>
          <a:xfrm>
            <a:off x="715820" y="572655"/>
            <a:ext cx="10367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카드 강화</a:t>
            </a:r>
            <a:endParaRPr lang="en-US" altLang="ko-K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6EF36C-4980-4B96-BD48-C89991D28EF7}"/>
              </a:ext>
            </a:extLst>
          </p:cNvPr>
          <p:cNvSpPr txBox="1"/>
          <p:nvPr/>
        </p:nvSpPr>
        <p:spPr>
          <a:xfrm>
            <a:off x="6216073" y="1007338"/>
            <a:ext cx="58050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보상</a:t>
            </a:r>
            <a:r>
              <a:rPr lang="en-US" altLang="ko-KR" sz="1400" dirty="0"/>
              <a:t>(</a:t>
            </a:r>
            <a:r>
              <a:rPr lang="ko-KR" altLang="en-US" sz="1400" dirty="0"/>
              <a:t>스테이지 클리어</a:t>
            </a:r>
            <a:r>
              <a:rPr lang="en-US" altLang="ko-KR" sz="1400" dirty="0"/>
              <a:t>/</a:t>
            </a:r>
            <a:r>
              <a:rPr lang="ko-KR" altLang="en-US" sz="1400" dirty="0" err="1"/>
              <a:t>카드팩</a:t>
            </a:r>
            <a:r>
              <a:rPr lang="en-US" altLang="ko-KR" sz="1400" dirty="0"/>
              <a:t>)</a:t>
            </a:r>
            <a:r>
              <a:rPr lang="ko-KR" altLang="en-US" sz="1400" dirty="0"/>
              <a:t>에서 카드 형태의 </a:t>
            </a:r>
            <a:r>
              <a:rPr lang="en-US" altLang="ko-KR" sz="1400" dirty="0"/>
              <a:t>‘</a:t>
            </a:r>
            <a:r>
              <a:rPr lang="ko-KR" altLang="en-US" sz="1400" dirty="0"/>
              <a:t>카드 강화</a:t>
            </a:r>
            <a:r>
              <a:rPr lang="en-US" altLang="ko-KR" sz="1400" dirty="0"/>
              <a:t>’</a:t>
            </a:r>
            <a:r>
              <a:rPr lang="ko-KR" altLang="en-US" sz="1400" dirty="0"/>
              <a:t>를 선택하고 넘어간 경우</a:t>
            </a:r>
            <a:r>
              <a:rPr lang="en-US" altLang="ko-KR" sz="1400" dirty="0"/>
              <a:t>, </a:t>
            </a:r>
            <a:r>
              <a:rPr lang="ko-KR" altLang="en-US" sz="1400" dirty="0"/>
              <a:t>혹은 상점 </a:t>
            </a:r>
            <a:r>
              <a:rPr lang="en-US" altLang="ko-KR" sz="1400" dirty="0"/>
              <a:t>limited</a:t>
            </a:r>
            <a:r>
              <a:rPr lang="ko-KR" altLang="en-US" sz="1400" dirty="0"/>
              <a:t>에서 </a:t>
            </a:r>
            <a:r>
              <a:rPr lang="en-US" altLang="ko-KR" sz="1400" dirty="0"/>
              <a:t>‘</a:t>
            </a:r>
            <a:r>
              <a:rPr lang="ko-KR" altLang="en-US" sz="1400" dirty="0"/>
              <a:t>카드 강화</a:t>
            </a:r>
            <a:r>
              <a:rPr lang="en-US" altLang="ko-KR" sz="1400" dirty="0"/>
              <a:t>’</a:t>
            </a:r>
            <a:r>
              <a:rPr lang="ko-KR" altLang="en-US" sz="1400" dirty="0"/>
              <a:t>를 구매한 경우</a:t>
            </a:r>
            <a:r>
              <a:rPr lang="en-US" altLang="ko-KR" sz="1400" dirty="0"/>
              <a:t> </a:t>
            </a:r>
            <a:r>
              <a:rPr lang="ko-KR" altLang="en-US" sz="1400" dirty="0"/>
              <a:t>진행</a:t>
            </a:r>
            <a:r>
              <a:rPr lang="en-US" altLang="ko-KR" sz="1400" dirty="0"/>
              <a:t>.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87FD20C8-AA9C-F354-46C0-A7F46729F6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820" y="1007338"/>
            <a:ext cx="4525006" cy="2514951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D2F5FEAF-E7E8-F375-68A9-44205DAC4A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5579" y="1699835"/>
            <a:ext cx="866775" cy="1143000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ABD9B786-5C11-826B-0821-B0A947A8692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0233" y="1888515"/>
            <a:ext cx="262748" cy="262748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AD1DBAFA-F9C7-EFFF-60F3-4A96D41A6D44}"/>
              </a:ext>
            </a:extLst>
          </p:cNvPr>
          <p:cNvSpPr/>
          <p:nvPr/>
        </p:nvSpPr>
        <p:spPr>
          <a:xfrm>
            <a:off x="4346343" y="1651106"/>
            <a:ext cx="885247" cy="12103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EAD2B12-BB58-44A6-5546-3526028975E4}"/>
              </a:ext>
            </a:extLst>
          </p:cNvPr>
          <p:cNvSpPr/>
          <p:nvPr/>
        </p:nvSpPr>
        <p:spPr>
          <a:xfrm>
            <a:off x="4451930" y="3260436"/>
            <a:ext cx="687300" cy="1870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927EFE8F-6EBE-5A74-7ACD-78F6739D3320}"/>
              </a:ext>
            </a:extLst>
          </p:cNvPr>
          <p:cNvCxnSpPr>
            <a:cxnSpLocks/>
          </p:cNvCxnSpPr>
          <p:nvPr/>
        </p:nvCxnSpPr>
        <p:spPr>
          <a:xfrm>
            <a:off x="4821381" y="2861422"/>
            <a:ext cx="0" cy="39901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A0B008E2-07C0-6F06-3BE7-A90B8908AD88}"/>
              </a:ext>
            </a:extLst>
          </p:cNvPr>
          <p:cNvCxnSpPr>
            <a:cxnSpLocks/>
          </p:cNvCxnSpPr>
          <p:nvPr/>
        </p:nvCxnSpPr>
        <p:spPr>
          <a:xfrm flipV="1">
            <a:off x="5139230" y="1256145"/>
            <a:ext cx="956770" cy="206663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1" name="그림 30">
            <a:extLst>
              <a:ext uri="{FF2B5EF4-FFF2-40B4-BE49-F238E27FC236}">
                <a16:creationId xmlns:a16="http://schemas.microsoft.com/office/drawing/2014/main" id="{500CCA21-174E-73D7-A16E-D215BB44533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142" y="581893"/>
            <a:ext cx="304678" cy="304678"/>
          </a:xfrm>
          <a:prstGeom prst="rect">
            <a:avLst/>
          </a:prstGeom>
        </p:spPr>
      </p:pic>
      <p:graphicFrame>
        <p:nvGraphicFramePr>
          <p:cNvPr id="39" name="개체 38">
            <a:extLst>
              <a:ext uri="{FF2B5EF4-FFF2-40B4-BE49-F238E27FC236}">
                <a16:creationId xmlns:a16="http://schemas.microsoft.com/office/drawing/2014/main" id="{7A0BC1A8-BCCF-61DB-B20A-02C663B8FF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405771"/>
              </p:ext>
            </p:extLst>
          </p:nvPr>
        </p:nvGraphicFramePr>
        <p:xfrm>
          <a:off x="6312249" y="1530558"/>
          <a:ext cx="5163931" cy="29047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6" imgW="25802844" imgH="14514195" progId="Photoshop.Image.26">
                  <p:embed/>
                </p:oleObj>
              </mc:Choice>
              <mc:Fallback>
                <p:oleObj name="Image" r:id="rId6" imgW="25802844" imgH="14514195" progId="Photoshop.Image.26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312249" y="1530558"/>
                        <a:ext cx="5163931" cy="29047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직사각형 40">
            <a:extLst>
              <a:ext uri="{FF2B5EF4-FFF2-40B4-BE49-F238E27FC236}">
                <a16:creationId xmlns:a16="http://schemas.microsoft.com/office/drawing/2014/main" id="{E2025A78-4E4A-FFA5-64F4-F2AD385933B2}"/>
              </a:ext>
            </a:extLst>
          </p:cNvPr>
          <p:cNvSpPr/>
          <p:nvPr/>
        </p:nvSpPr>
        <p:spPr>
          <a:xfrm>
            <a:off x="6410036" y="4013200"/>
            <a:ext cx="377076" cy="3186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8B1C031F-E3B1-AE22-1104-0EB5882931A0}"/>
              </a:ext>
            </a:extLst>
          </p:cNvPr>
          <p:cNvCxnSpPr/>
          <p:nvPr/>
        </p:nvCxnSpPr>
        <p:spPr>
          <a:xfrm flipH="1">
            <a:off x="5975927" y="4165600"/>
            <a:ext cx="336322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그림 46">
            <a:extLst>
              <a:ext uri="{FF2B5EF4-FFF2-40B4-BE49-F238E27FC236}">
                <a16:creationId xmlns:a16="http://schemas.microsoft.com/office/drawing/2014/main" id="{DE459BD1-DF1B-C3A2-B390-9547BF0D1CD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1277" y="4072514"/>
            <a:ext cx="171450" cy="200025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1495E968-9E04-FAFB-72E5-4A49C7880597}"/>
              </a:ext>
            </a:extLst>
          </p:cNvPr>
          <p:cNvSpPr txBox="1"/>
          <p:nvPr/>
        </p:nvSpPr>
        <p:spPr>
          <a:xfrm>
            <a:off x="2136771" y="4024078"/>
            <a:ext cx="36802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유물 포함해서 덱 전체 보러 갔다 오기 기능</a:t>
            </a:r>
            <a:endParaRPr lang="en-US" altLang="ko-KR" sz="1400" dirty="0"/>
          </a:p>
        </p:txBody>
      </p:sp>
      <p:pic>
        <p:nvPicPr>
          <p:cNvPr id="50" name="그림 49">
            <a:extLst>
              <a:ext uri="{FF2B5EF4-FFF2-40B4-BE49-F238E27FC236}">
                <a16:creationId xmlns:a16="http://schemas.microsoft.com/office/drawing/2014/main" id="{18D14741-654C-000A-4955-D392AACD4E7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663" y="4129664"/>
            <a:ext cx="361950" cy="142875"/>
          </a:xfrm>
          <a:prstGeom prst="rect">
            <a:avLst/>
          </a:prstGeom>
        </p:spPr>
      </p:pic>
      <p:sp>
        <p:nvSpPr>
          <p:cNvPr id="51" name="직사각형 50">
            <a:extLst>
              <a:ext uri="{FF2B5EF4-FFF2-40B4-BE49-F238E27FC236}">
                <a16:creationId xmlns:a16="http://schemas.microsoft.com/office/drawing/2014/main" id="{5B4F2B76-99C8-B2F4-BFF8-46B58FE8B9A3}"/>
              </a:ext>
            </a:extLst>
          </p:cNvPr>
          <p:cNvSpPr/>
          <p:nvPr/>
        </p:nvSpPr>
        <p:spPr>
          <a:xfrm>
            <a:off x="10778836" y="4072514"/>
            <a:ext cx="557557" cy="2716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4D1FEED0-6D75-5187-583B-53B799052591}"/>
              </a:ext>
            </a:extLst>
          </p:cNvPr>
          <p:cNvCxnSpPr>
            <a:cxnSpLocks/>
          </p:cNvCxnSpPr>
          <p:nvPr/>
        </p:nvCxnSpPr>
        <p:spPr>
          <a:xfrm>
            <a:off x="11044785" y="4331855"/>
            <a:ext cx="0" cy="99558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81DEBA90-C909-1DD6-6918-9C867186CB5C}"/>
              </a:ext>
            </a:extLst>
          </p:cNvPr>
          <p:cNvSpPr txBox="1"/>
          <p:nvPr/>
        </p:nvSpPr>
        <p:spPr>
          <a:xfrm>
            <a:off x="6216073" y="4522800"/>
            <a:ext cx="580505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창 이름 </a:t>
            </a:r>
            <a:r>
              <a:rPr lang="en-US" altLang="ko-KR" sz="1400" dirty="0"/>
              <a:t>‘Enchant’</a:t>
            </a:r>
            <a:r>
              <a:rPr lang="ko-KR" altLang="en-US" sz="1400" dirty="0"/>
              <a:t>로 표기</a:t>
            </a:r>
            <a:r>
              <a:rPr lang="en-US" altLang="ko-KR" sz="1400" dirty="0"/>
              <a:t>. </a:t>
            </a:r>
            <a:r>
              <a:rPr lang="ko-KR" altLang="en-US" sz="1400" dirty="0"/>
              <a:t>덱 리스트에서 강화가 가능한</a:t>
            </a:r>
            <a:endParaRPr lang="en-US" altLang="ko-KR" sz="1400" dirty="0"/>
          </a:p>
          <a:p>
            <a:r>
              <a:rPr lang="ko-KR" altLang="en-US" sz="1400" dirty="0"/>
              <a:t>강화 전 카드를 상단에 우선 표기</a:t>
            </a:r>
            <a:r>
              <a:rPr lang="en-US" altLang="ko-KR" sz="1400" dirty="0"/>
              <a:t>, </a:t>
            </a:r>
            <a:r>
              <a:rPr lang="ko-KR" altLang="en-US" sz="1400" dirty="0"/>
              <a:t>이미 강화가 되었거나 강화가 없는 카드는 </a:t>
            </a:r>
            <a:r>
              <a:rPr lang="en-US" altLang="ko-KR" sz="1400" dirty="0"/>
              <a:t>‘</a:t>
            </a:r>
            <a:r>
              <a:rPr lang="ko-KR" altLang="en-US" sz="1400" dirty="0"/>
              <a:t>강화불가</a:t>
            </a:r>
            <a:r>
              <a:rPr lang="en-US" altLang="ko-KR" sz="1400" dirty="0"/>
              <a:t>’</a:t>
            </a:r>
            <a:r>
              <a:rPr lang="ko-KR" altLang="en-US" sz="1400" dirty="0"/>
              <a:t>로 어둡게 표기</a:t>
            </a:r>
            <a:endParaRPr lang="en-US" altLang="ko-KR" sz="14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1B86A4E-1E1F-0050-B6C4-9AC90EBF1401}"/>
              </a:ext>
            </a:extLst>
          </p:cNvPr>
          <p:cNvSpPr txBox="1"/>
          <p:nvPr/>
        </p:nvSpPr>
        <p:spPr>
          <a:xfrm>
            <a:off x="8821794" y="5386758"/>
            <a:ext cx="358726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강화 가능한 카드가 없거나</a:t>
            </a:r>
            <a:r>
              <a:rPr lang="en-US" altLang="ko-KR" sz="1400" dirty="0"/>
              <a:t>,</a:t>
            </a:r>
          </a:p>
          <a:p>
            <a:r>
              <a:rPr lang="ko-KR" altLang="en-US" sz="1400" dirty="0"/>
              <a:t>강화할 생각이 사라졌을 때를 위한 </a:t>
            </a:r>
            <a:r>
              <a:rPr lang="en-US" altLang="ko-KR" sz="1400" dirty="0"/>
              <a:t>Skip.</a:t>
            </a:r>
          </a:p>
          <a:p>
            <a:r>
              <a:rPr lang="ko-KR" altLang="en-US" sz="1400" dirty="0"/>
              <a:t>원래 진행하던 </a:t>
            </a:r>
            <a:r>
              <a:rPr lang="ko-KR" altLang="en-US" sz="1400" dirty="0" err="1"/>
              <a:t>스탭</a:t>
            </a:r>
            <a:r>
              <a:rPr lang="en-US" altLang="ko-KR" sz="1400" dirty="0"/>
              <a:t>(</a:t>
            </a:r>
            <a:r>
              <a:rPr lang="ko-KR" altLang="en-US" sz="1400" dirty="0"/>
              <a:t>보상</a:t>
            </a:r>
            <a:r>
              <a:rPr lang="en-US" altLang="ko-KR" sz="1400" dirty="0"/>
              <a:t>/</a:t>
            </a:r>
            <a:r>
              <a:rPr lang="ko-KR" altLang="en-US" sz="1400" dirty="0"/>
              <a:t>상점구매</a:t>
            </a:r>
            <a:r>
              <a:rPr lang="en-US" altLang="ko-KR" sz="1400" dirty="0"/>
              <a:t>)</a:t>
            </a:r>
            <a:r>
              <a:rPr lang="ko-KR" altLang="en-US" sz="1400" dirty="0"/>
              <a:t>의</a:t>
            </a:r>
            <a:endParaRPr lang="en-US" altLang="ko-KR" sz="1400" dirty="0"/>
          </a:p>
          <a:p>
            <a:r>
              <a:rPr lang="ko-KR" altLang="en-US" sz="1400" dirty="0"/>
              <a:t>다음 단계로 넘어 감</a:t>
            </a:r>
            <a:r>
              <a:rPr lang="en-US" altLang="ko-KR" sz="1400" dirty="0"/>
              <a:t>.</a:t>
            </a:r>
          </a:p>
          <a:p>
            <a:r>
              <a:rPr lang="ko-KR" altLang="en-US" sz="1400" dirty="0"/>
              <a:t>강화하지 않았다고 해서</a:t>
            </a:r>
            <a:endParaRPr lang="en-US" altLang="ko-KR" sz="1400" dirty="0"/>
          </a:p>
          <a:p>
            <a:r>
              <a:rPr lang="ko-KR" altLang="en-US" sz="1400" dirty="0"/>
              <a:t>보상 선택</a:t>
            </a:r>
            <a:r>
              <a:rPr lang="en-US" altLang="ko-KR" sz="1400" dirty="0"/>
              <a:t>/</a:t>
            </a:r>
            <a:r>
              <a:rPr lang="ko-KR" altLang="en-US" sz="1400" dirty="0"/>
              <a:t>구매 전으로 돌아갈 수는 없다</a:t>
            </a:r>
            <a:r>
              <a:rPr lang="en-US" altLang="ko-KR" sz="1400" dirty="0"/>
              <a:t>.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4ED75F05-7EA7-19E4-E31F-F66A6E02DEC9}"/>
              </a:ext>
            </a:extLst>
          </p:cNvPr>
          <p:cNvSpPr/>
          <p:nvPr/>
        </p:nvSpPr>
        <p:spPr>
          <a:xfrm>
            <a:off x="7458363" y="1984577"/>
            <a:ext cx="595746" cy="6754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61070582-7955-C121-F70D-E25ADCDF384C}"/>
              </a:ext>
            </a:extLst>
          </p:cNvPr>
          <p:cNvCxnSpPr>
            <a:cxnSpLocks/>
          </p:cNvCxnSpPr>
          <p:nvPr/>
        </p:nvCxnSpPr>
        <p:spPr>
          <a:xfrm flipH="1">
            <a:off x="5222354" y="2618509"/>
            <a:ext cx="2236009" cy="264295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0" name="개체 59">
            <a:extLst>
              <a:ext uri="{FF2B5EF4-FFF2-40B4-BE49-F238E27FC236}">
                <a16:creationId xmlns:a16="http://schemas.microsoft.com/office/drawing/2014/main" id="{12C86CE0-A5F8-2717-8CAE-8E5AC62D91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8975791"/>
              </p:ext>
            </p:extLst>
          </p:nvPr>
        </p:nvGraphicFramePr>
        <p:xfrm>
          <a:off x="1220066" y="4522800"/>
          <a:ext cx="3872345" cy="21781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10" imgW="25802844" imgH="14514195" progId="Photoshop.Image.26">
                  <p:embed/>
                </p:oleObj>
              </mc:Choice>
              <mc:Fallback>
                <p:oleObj name="Image" r:id="rId10" imgW="25802844" imgH="14514195" progId="Photoshop.Image.26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220066" y="4522800"/>
                        <a:ext cx="3872345" cy="21781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" name="TextBox 60">
            <a:extLst>
              <a:ext uri="{FF2B5EF4-FFF2-40B4-BE49-F238E27FC236}">
                <a16:creationId xmlns:a16="http://schemas.microsoft.com/office/drawing/2014/main" id="{B7D64F6D-4847-B60A-BFA4-E34C257E339A}"/>
              </a:ext>
            </a:extLst>
          </p:cNvPr>
          <p:cNvSpPr txBox="1"/>
          <p:nvPr/>
        </p:nvSpPr>
        <p:spPr>
          <a:xfrm>
            <a:off x="5222354" y="5208117"/>
            <a:ext cx="3367464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활성화된 카드 클릭 시</a:t>
            </a:r>
            <a:r>
              <a:rPr lang="en-US" altLang="ko-KR" sz="1400" dirty="0"/>
              <a:t>,</a:t>
            </a:r>
          </a:p>
          <a:p>
            <a:r>
              <a:rPr lang="ko-KR" altLang="en-US" sz="1400" dirty="0" err="1"/>
              <a:t>인챈트</a:t>
            </a:r>
            <a:r>
              <a:rPr lang="ko-KR" altLang="en-US" sz="1400" dirty="0"/>
              <a:t> 전</a:t>
            </a:r>
            <a:r>
              <a:rPr lang="en-US" altLang="ko-KR" sz="1400" dirty="0"/>
              <a:t>/</a:t>
            </a:r>
            <a:r>
              <a:rPr lang="ko-KR" altLang="en-US" sz="1400" dirty="0"/>
              <a:t>후 카드를</a:t>
            </a:r>
            <a:endParaRPr lang="en-US" altLang="ko-KR" sz="1400" dirty="0"/>
          </a:p>
          <a:p>
            <a:r>
              <a:rPr lang="ko-KR" altLang="en-US" sz="1400" dirty="0"/>
              <a:t>띄워주고 </a:t>
            </a:r>
            <a:r>
              <a:rPr lang="ko-KR" altLang="en-US" sz="1400" dirty="0" err="1"/>
              <a:t>인챈트</a:t>
            </a:r>
            <a:r>
              <a:rPr lang="ko-KR" altLang="en-US" sz="1400" dirty="0"/>
              <a:t> 여부를 물어봄</a:t>
            </a:r>
            <a:endParaRPr lang="en-US" altLang="ko-KR" sz="1400" dirty="0"/>
          </a:p>
          <a:p>
            <a:r>
              <a:rPr lang="ko-KR" altLang="en-US" sz="1400" dirty="0"/>
              <a:t>취소 </a:t>
            </a:r>
            <a:r>
              <a:rPr lang="en-US" altLang="ko-KR" sz="1400" dirty="0"/>
              <a:t>: </a:t>
            </a:r>
            <a:r>
              <a:rPr lang="ko-KR" altLang="en-US" sz="1400" dirty="0"/>
              <a:t>카드를 클릭하기 전의 </a:t>
            </a:r>
            <a:r>
              <a:rPr lang="en-US" altLang="ko-KR" sz="1400" dirty="0"/>
              <a:t>ENCHANT </a:t>
            </a:r>
            <a:r>
              <a:rPr lang="ko-KR" altLang="en-US" sz="1400" dirty="0"/>
              <a:t>팝업으로 돌아옴</a:t>
            </a:r>
            <a:endParaRPr lang="en-US" altLang="ko-KR" sz="1400" dirty="0"/>
          </a:p>
          <a:p>
            <a:r>
              <a:rPr lang="ko-KR" altLang="en-US" sz="1400" dirty="0"/>
              <a:t>확인 </a:t>
            </a:r>
            <a:r>
              <a:rPr lang="en-US" altLang="ko-KR" sz="1400" dirty="0"/>
              <a:t>: </a:t>
            </a:r>
            <a:r>
              <a:rPr lang="ko-KR" altLang="en-US" sz="1400" dirty="0"/>
              <a:t>해당 카드 강화 후</a:t>
            </a:r>
            <a:r>
              <a:rPr lang="en-US" altLang="ko-KR" sz="1400" dirty="0"/>
              <a:t>,</a:t>
            </a:r>
            <a:r>
              <a:rPr lang="ko-KR" altLang="en-US" sz="1400" dirty="0"/>
              <a:t> 다음 단계로 넘어 감</a:t>
            </a:r>
            <a:r>
              <a:rPr lang="en-US" altLang="ko-KR" sz="1400" dirty="0"/>
              <a:t>.</a:t>
            </a:r>
          </a:p>
        </p:txBody>
      </p: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7B58BDC3-F328-22A4-22B0-FEBD72BB76BF}"/>
              </a:ext>
            </a:extLst>
          </p:cNvPr>
          <p:cNvCxnSpPr>
            <a:cxnSpLocks/>
          </p:cNvCxnSpPr>
          <p:nvPr/>
        </p:nvCxnSpPr>
        <p:spPr>
          <a:xfrm flipV="1">
            <a:off x="4870566" y="699324"/>
            <a:ext cx="1225434" cy="178762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4" name="TextBox 1023">
            <a:extLst>
              <a:ext uri="{FF2B5EF4-FFF2-40B4-BE49-F238E27FC236}">
                <a16:creationId xmlns:a16="http://schemas.microsoft.com/office/drawing/2014/main" id="{05187A01-9E7A-1C8F-103B-DC48A8600AFA}"/>
              </a:ext>
            </a:extLst>
          </p:cNvPr>
          <p:cNvSpPr txBox="1"/>
          <p:nvPr/>
        </p:nvSpPr>
        <p:spPr>
          <a:xfrm>
            <a:off x="6216073" y="393049"/>
            <a:ext cx="58050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chemeClr val="accent2"/>
                </a:solidFill>
              </a:rPr>
              <a:t>설명 란에 카드 강화에 대한 설명 외에도</a:t>
            </a:r>
            <a:r>
              <a:rPr lang="en-US" altLang="ko-KR" sz="1400" dirty="0">
                <a:solidFill>
                  <a:schemeClr val="accent2"/>
                </a:solidFill>
              </a:rPr>
              <a:t>,</a:t>
            </a:r>
          </a:p>
          <a:p>
            <a:r>
              <a:rPr lang="en-US" altLang="ko-KR" sz="1400" dirty="0">
                <a:solidFill>
                  <a:schemeClr val="accent2"/>
                </a:solidFill>
              </a:rPr>
              <a:t>“</a:t>
            </a:r>
            <a:r>
              <a:rPr lang="ko-KR" altLang="en-US" sz="1400" dirty="0" err="1">
                <a:solidFill>
                  <a:schemeClr val="accent2"/>
                </a:solidFill>
              </a:rPr>
              <a:t>덱에</a:t>
            </a:r>
            <a:r>
              <a:rPr lang="ko-KR" altLang="en-US" sz="1400" dirty="0">
                <a:solidFill>
                  <a:schemeClr val="accent2"/>
                </a:solidFill>
              </a:rPr>
              <a:t> 있는 현재 강화 가능한 카드 수</a:t>
            </a:r>
            <a:r>
              <a:rPr lang="en-US" altLang="ko-KR" sz="1400" dirty="0">
                <a:solidFill>
                  <a:schemeClr val="accent2"/>
                </a:solidFill>
              </a:rPr>
              <a:t>” </a:t>
            </a:r>
            <a:r>
              <a:rPr lang="ko-KR" altLang="en-US" sz="1400" dirty="0">
                <a:solidFill>
                  <a:schemeClr val="accent2"/>
                </a:solidFill>
              </a:rPr>
              <a:t>를 띄워주고 싶어</a:t>
            </a:r>
            <a:r>
              <a:rPr lang="en-US" altLang="ko-KR" sz="1400" dirty="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1027" name="직사각형 1026">
            <a:extLst>
              <a:ext uri="{FF2B5EF4-FFF2-40B4-BE49-F238E27FC236}">
                <a16:creationId xmlns:a16="http://schemas.microsoft.com/office/drawing/2014/main" id="{8DB46745-9AC5-0C66-722F-0E84B1F1BE5E}"/>
              </a:ext>
            </a:extLst>
          </p:cNvPr>
          <p:cNvSpPr/>
          <p:nvPr/>
        </p:nvSpPr>
        <p:spPr>
          <a:xfrm>
            <a:off x="10437091" y="2130135"/>
            <a:ext cx="899302" cy="13538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cxnSp>
        <p:nvCxnSpPr>
          <p:cNvPr id="1028" name="직선 화살표 연결선 1027">
            <a:extLst>
              <a:ext uri="{FF2B5EF4-FFF2-40B4-BE49-F238E27FC236}">
                <a16:creationId xmlns:a16="http://schemas.microsoft.com/office/drawing/2014/main" id="{CD017BD7-F8F6-7B00-653A-30E09859717B}"/>
              </a:ext>
            </a:extLst>
          </p:cNvPr>
          <p:cNvCxnSpPr>
            <a:cxnSpLocks/>
          </p:cNvCxnSpPr>
          <p:nvPr/>
        </p:nvCxnSpPr>
        <p:spPr>
          <a:xfrm>
            <a:off x="10778836" y="3038224"/>
            <a:ext cx="697344" cy="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1" name="TextBox 1030">
            <a:extLst>
              <a:ext uri="{FF2B5EF4-FFF2-40B4-BE49-F238E27FC236}">
                <a16:creationId xmlns:a16="http://schemas.microsoft.com/office/drawing/2014/main" id="{582D3EE4-D8F1-DF35-9BC9-A627640B1E25}"/>
              </a:ext>
            </a:extLst>
          </p:cNvPr>
          <p:cNvSpPr txBox="1"/>
          <p:nvPr/>
        </p:nvSpPr>
        <p:spPr>
          <a:xfrm>
            <a:off x="11446164" y="2218453"/>
            <a:ext cx="9752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이 자리</a:t>
            </a:r>
            <a:endParaRPr lang="en-US" altLang="ko-KR" sz="1400" dirty="0"/>
          </a:p>
          <a:p>
            <a:r>
              <a:rPr lang="ko-KR" altLang="en-US" sz="1400" dirty="0" err="1"/>
              <a:t>에</a:t>
            </a:r>
            <a:r>
              <a:rPr lang="ko-KR" altLang="en-US" sz="1400" dirty="0"/>
              <a:t> </a:t>
            </a:r>
            <a:r>
              <a:rPr lang="ko-KR" altLang="en-US" sz="1400" dirty="0" err="1"/>
              <a:t>마우</a:t>
            </a:r>
            <a:endParaRPr lang="en-US" altLang="ko-KR" sz="1400" dirty="0"/>
          </a:p>
          <a:p>
            <a:r>
              <a:rPr lang="ko-KR" altLang="en-US" sz="1400" dirty="0" err="1"/>
              <a:t>스</a:t>
            </a:r>
            <a:r>
              <a:rPr lang="ko-KR" altLang="en-US" sz="1400" dirty="0"/>
              <a:t> 오버</a:t>
            </a:r>
            <a:endParaRPr lang="en-US" altLang="ko-KR" sz="1400" dirty="0"/>
          </a:p>
          <a:p>
            <a:r>
              <a:rPr lang="ko-KR" altLang="en-US" sz="1400" dirty="0"/>
              <a:t>한 카드</a:t>
            </a:r>
            <a:endParaRPr lang="en-US" altLang="ko-KR" sz="1400" dirty="0"/>
          </a:p>
          <a:p>
            <a:r>
              <a:rPr lang="ko-KR" altLang="en-US" sz="1400" dirty="0"/>
              <a:t>의 강화</a:t>
            </a:r>
            <a:endParaRPr lang="en-US" altLang="ko-KR" sz="1400" dirty="0"/>
          </a:p>
          <a:p>
            <a:r>
              <a:rPr lang="ko-KR" altLang="en-US" sz="1400" dirty="0"/>
              <a:t>판 미리</a:t>
            </a:r>
            <a:endParaRPr lang="en-US" altLang="ko-KR" sz="1400" dirty="0"/>
          </a:p>
          <a:p>
            <a:r>
              <a:rPr lang="ko-KR" altLang="en-US" sz="1400" dirty="0"/>
              <a:t>보기 표</a:t>
            </a:r>
            <a:endParaRPr lang="en-US" altLang="ko-KR" sz="1400" dirty="0"/>
          </a:p>
          <a:p>
            <a:r>
              <a:rPr lang="ko-KR" altLang="en-US" sz="1400" dirty="0"/>
              <a:t>시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39726047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08EA6-10E4-52F9-0A02-8F574B27F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7050CF2-3F31-7AE1-CD49-A59CAF4CB5F9}"/>
              </a:ext>
            </a:extLst>
          </p:cNvPr>
          <p:cNvSpPr txBox="1"/>
          <p:nvPr/>
        </p:nvSpPr>
        <p:spPr>
          <a:xfrm>
            <a:off x="715820" y="572655"/>
            <a:ext cx="10367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카드 제거</a:t>
            </a:r>
            <a:endParaRPr lang="en-US" altLang="ko-K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299263-791D-1779-418C-72EBE6097C7B}"/>
              </a:ext>
            </a:extLst>
          </p:cNvPr>
          <p:cNvSpPr txBox="1"/>
          <p:nvPr/>
        </p:nvSpPr>
        <p:spPr>
          <a:xfrm>
            <a:off x="6216073" y="1007338"/>
            <a:ext cx="58050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‘</a:t>
            </a:r>
            <a:r>
              <a:rPr lang="ko-KR" altLang="en-US" sz="1400" dirty="0"/>
              <a:t>카드 강화</a:t>
            </a:r>
            <a:r>
              <a:rPr lang="en-US" altLang="ko-KR" sz="1400" dirty="0"/>
              <a:t>’</a:t>
            </a:r>
            <a:r>
              <a:rPr lang="ko-KR" altLang="en-US" sz="1400" dirty="0"/>
              <a:t>와 같은 스텝으로 진행</a:t>
            </a:r>
            <a:endParaRPr lang="en-US" altLang="ko-KR" sz="14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8B59B83A-92A5-0A72-4F8E-10DF93E399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820" y="1007338"/>
            <a:ext cx="4525006" cy="2514951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A5A1BC35-403D-C184-B676-7FCF61A21B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5579" y="1699835"/>
            <a:ext cx="866775" cy="1143000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2ED3EDD5-F3F9-ABD8-05BF-194F67419E15}"/>
              </a:ext>
            </a:extLst>
          </p:cNvPr>
          <p:cNvSpPr/>
          <p:nvPr/>
        </p:nvSpPr>
        <p:spPr>
          <a:xfrm>
            <a:off x="4346343" y="1651106"/>
            <a:ext cx="885247" cy="12103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FDD2EF0-075D-F709-95E5-06D95B955D74}"/>
              </a:ext>
            </a:extLst>
          </p:cNvPr>
          <p:cNvSpPr/>
          <p:nvPr/>
        </p:nvSpPr>
        <p:spPr>
          <a:xfrm>
            <a:off x="4451930" y="3260436"/>
            <a:ext cx="687300" cy="1870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893A3B10-0594-56BD-9277-412D3543F50A}"/>
              </a:ext>
            </a:extLst>
          </p:cNvPr>
          <p:cNvCxnSpPr>
            <a:cxnSpLocks/>
          </p:cNvCxnSpPr>
          <p:nvPr/>
        </p:nvCxnSpPr>
        <p:spPr>
          <a:xfrm>
            <a:off x="4821381" y="2861422"/>
            <a:ext cx="0" cy="39901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78902772-088B-3141-B2D0-8959C65AB044}"/>
              </a:ext>
            </a:extLst>
          </p:cNvPr>
          <p:cNvCxnSpPr>
            <a:cxnSpLocks/>
            <a:endCxn id="4" idx="1"/>
          </p:cNvCxnSpPr>
          <p:nvPr/>
        </p:nvCxnSpPr>
        <p:spPr>
          <a:xfrm flipV="1">
            <a:off x="5139230" y="1161227"/>
            <a:ext cx="1076843" cy="216155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9" name="개체 38">
            <a:extLst>
              <a:ext uri="{FF2B5EF4-FFF2-40B4-BE49-F238E27FC236}">
                <a16:creationId xmlns:a16="http://schemas.microsoft.com/office/drawing/2014/main" id="{DC1E0DDE-9828-1A96-CDB2-0F53D7D9DA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0689300"/>
              </p:ext>
            </p:extLst>
          </p:nvPr>
        </p:nvGraphicFramePr>
        <p:xfrm>
          <a:off x="6312249" y="1318507"/>
          <a:ext cx="5163931" cy="29047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25802844" imgH="14514195" progId="Photoshop.Image.26">
                  <p:embed/>
                </p:oleObj>
              </mc:Choice>
              <mc:Fallback>
                <p:oleObj name="Image" r:id="rId5" imgW="25802844" imgH="14514195" progId="Photoshop.Image.26">
                  <p:embed/>
                  <p:pic>
                    <p:nvPicPr>
                      <p:cNvPr id="39" name="개체 38">
                        <a:extLst>
                          <a:ext uri="{FF2B5EF4-FFF2-40B4-BE49-F238E27FC236}">
                            <a16:creationId xmlns:a16="http://schemas.microsoft.com/office/drawing/2014/main" id="{7A0BC1A8-BCCF-61DB-B20A-02C663B8FF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312249" y="1318507"/>
                        <a:ext cx="5163931" cy="29047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직사각형 40">
            <a:extLst>
              <a:ext uri="{FF2B5EF4-FFF2-40B4-BE49-F238E27FC236}">
                <a16:creationId xmlns:a16="http://schemas.microsoft.com/office/drawing/2014/main" id="{C3308096-7B9D-708B-AC12-718E6ED5055D}"/>
              </a:ext>
            </a:extLst>
          </p:cNvPr>
          <p:cNvSpPr/>
          <p:nvPr/>
        </p:nvSpPr>
        <p:spPr>
          <a:xfrm>
            <a:off x="6410036" y="3821249"/>
            <a:ext cx="377076" cy="3186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966DB141-EA42-F7F4-B77D-F299D5525FFB}"/>
              </a:ext>
            </a:extLst>
          </p:cNvPr>
          <p:cNvCxnSpPr/>
          <p:nvPr/>
        </p:nvCxnSpPr>
        <p:spPr>
          <a:xfrm flipH="1">
            <a:off x="5975927" y="3973649"/>
            <a:ext cx="336322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그림 46">
            <a:extLst>
              <a:ext uri="{FF2B5EF4-FFF2-40B4-BE49-F238E27FC236}">
                <a16:creationId xmlns:a16="http://schemas.microsoft.com/office/drawing/2014/main" id="{FC339ED2-B713-AF13-EA58-B946FD5DBA9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1277" y="3880563"/>
            <a:ext cx="171450" cy="200025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24FF3690-5250-828B-9A1D-045D21C64DEC}"/>
              </a:ext>
            </a:extLst>
          </p:cNvPr>
          <p:cNvSpPr txBox="1"/>
          <p:nvPr/>
        </p:nvSpPr>
        <p:spPr>
          <a:xfrm>
            <a:off x="2136771" y="3832127"/>
            <a:ext cx="36802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유물 포함해서 덱 전체 보러 갔다 오기 기능</a:t>
            </a:r>
            <a:endParaRPr lang="en-US" altLang="ko-KR" sz="1400" dirty="0"/>
          </a:p>
        </p:txBody>
      </p:sp>
      <p:pic>
        <p:nvPicPr>
          <p:cNvPr id="50" name="그림 49">
            <a:extLst>
              <a:ext uri="{FF2B5EF4-FFF2-40B4-BE49-F238E27FC236}">
                <a16:creationId xmlns:a16="http://schemas.microsoft.com/office/drawing/2014/main" id="{8A5EB558-BCD2-0FE1-14AE-6E52E430A5E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663" y="3991120"/>
            <a:ext cx="361950" cy="142875"/>
          </a:xfrm>
          <a:prstGeom prst="rect">
            <a:avLst/>
          </a:prstGeom>
        </p:spPr>
      </p:pic>
      <p:sp>
        <p:nvSpPr>
          <p:cNvPr id="51" name="직사각형 50">
            <a:extLst>
              <a:ext uri="{FF2B5EF4-FFF2-40B4-BE49-F238E27FC236}">
                <a16:creationId xmlns:a16="http://schemas.microsoft.com/office/drawing/2014/main" id="{057A3D22-A27F-E777-9300-6B003067C628}"/>
              </a:ext>
            </a:extLst>
          </p:cNvPr>
          <p:cNvSpPr/>
          <p:nvPr/>
        </p:nvSpPr>
        <p:spPr>
          <a:xfrm>
            <a:off x="10778836" y="3933970"/>
            <a:ext cx="557557" cy="2716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06695881-429A-EF4B-E73E-3A2C5752C147}"/>
              </a:ext>
            </a:extLst>
          </p:cNvPr>
          <p:cNvCxnSpPr>
            <a:cxnSpLocks/>
          </p:cNvCxnSpPr>
          <p:nvPr/>
        </p:nvCxnSpPr>
        <p:spPr>
          <a:xfrm>
            <a:off x="11044785" y="4193311"/>
            <a:ext cx="0" cy="119344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664D59E4-DA5F-ECF3-3718-5D333120F1A0}"/>
              </a:ext>
            </a:extLst>
          </p:cNvPr>
          <p:cNvSpPr txBox="1"/>
          <p:nvPr/>
        </p:nvSpPr>
        <p:spPr>
          <a:xfrm>
            <a:off x="6216073" y="4262806"/>
            <a:ext cx="580505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창 이름 </a:t>
            </a:r>
            <a:r>
              <a:rPr lang="en-US" altLang="ko-KR" sz="1400" dirty="0"/>
              <a:t>‘Delete’</a:t>
            </a:r>
            <a:r>
              <a:rPr lang="ko-KR" altLang="en-US" sz="1400" dirty="0"/>
              <a:t>로 표기</a:t>
            </a:r>
            <a:br>
              <a:rPr lang="en-US" altLang="ko-KR" sz="1400" dirty="0"/>
            </a:br>
            <a:r>
              <a:rPr lang="ko-KR" altLang="en-US" sz="1400" dirty="0"/>
              <a:t>해당 카드가 </a:t>
            </a:r>
            <a:r>
              <a:rPr lang="ko-KR" altLang="en-US" sz="1400" dirty="0" err="1"/>
              <a:t>덱의</a:t>
            </a:r>
            <a:r>
              <a:rPr lang="ko-KR" altLang="en-US" sz="1400" dirty="0"/>
              <a:t> 마지막 한 장인 경우</a:t>
            </a:r>
            <a:r>
              <a:rPr lang="en-US" altLang="ko-KR" sz="1400" dirty="0"/>
              <a:t>, </a:t>
            </a:r>
            <a:r>
              <a:rPr lang="ko-KR" altLang="en-US" sz="1400" dirty="0"/>
              <a:t>혹은 카드의 태그 등으로 카드가 제거 불가능한 효과를 가지고 있다면</a:t>
            </a:r>
            <a:r>
              <a:rPr lang="en-US" altLang="ko-KR" sz="1400" dirty="0"/>
              <a:t>,</a:t>
            </a:r>
            <a:r>
              <a:rPr lang="ko-KR" altLang="en-US" sz="1400" dirty="0"/>
              <a:t> </a:t>
            </a:r>
            <a:r>
              <a:rPr lang="en-US" altLang="ko-KR" sz="1400" dirty="0"/>
              <a:t>“</a:t>
            </a:r>
            <a:r>
              <a:rPr lang="ko-KR" altLang="en-US" sz="1400" dirty="0"/>
              <a:t>제거 불가</a:t>
            </a:r>
            <a:r>
              <a:rPr lang="en-US" altLang="ko-KR" sz="1400" dirty="0"/>
              <a:t>”</a:t>
            </a:r>
            <a:r>
              <a:rPr lang="ko-KR" altLang="en-US" sz="1400" dirty="0"/>
              <a:t>로 표기하고 뒤로 정렬</a:t>
            </a:r>
            <a:r>
              <a:rPr lang="en-US" altLang="ko-KR" sz="1400" dirty="0"/>
              <a:t>.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439C55C-5373-8256-7E48-BE923E8CD656}"/>
              </a:ext>
            </a:extLst>
          </p:cNvPr>
          <p:cNvSpPr txBox="1"/>
          <p:nvPr/>
        </p:nvSpPr>
        <p:spPr>
          <a:xfrm>
            <a:off x="8821794" y="5386758"/>
            <a:ext cx="358726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제거 가능한 카드가 없거나</a:t>
            </a:r>
            <a:r>
              <a:rPr lang="en-US" altLang="ko-KR" sz="1400" dirty="0"/>
              <a:t>(1</a:t>
            </a:r>
            <a:r>
              <a:rPr lang="ko-KR" altLang="en-US" sz="1400" dirty="0" err="1"/>
              <a:t>장밖에</a:t>
            </a:r>
            <a:r>
              <a:rPr lang="ko-KR" altLang="en-US" sz="1400" dirty="0"/>
              <a:t> 없거나</a:t>
            </a:r>
            <a:r>
              <a:rPr lang="en-US" altLang="ko-KR" sz="1400" dirty="0"/>
              <a:t>), </a:t>
            </a:r>
            <a:r>
              <a:rPr lang="ko-KR" altLang="en-US" sz="1400" dirty="0"/>
              <a:t>제거할 생각이 사라졌을 때를 위한 </a:t>
            </a:r>
            <a:r>
              <a:rPr lang="en-US" altLang="ko-KR" sz="1400" dirty="0"/>
              <a:t>Skip.</a:t>
            </a:r>
          </a:p>
          <a:p>
            <a:r>
              <a:rPr lang="ko-KR" altLang="en-US" sz="1400" dirty="0"/>
              <a:t>강화하지 않았다고 해서</a:t>
            </a:r>
            <a:endParaRPr lang="en-US" altLang="ko-KR" sz="1400" dirty="0"/>
          </a:p>
          <a:p>
            <a:r>
              <a:rPr lang="ko-KR" altLang="en-US" sz="1400" dirty="0"/>
              <a:t>보상 선택</a:t>
            </a:r>
            <a:r>
              <a:rPr lang="en-US" altLang="ko-KR" sz="1400" dirty="0"/>
              <a:t>/</a:t>
            </a:r>
            <a:r>
              <a:rPr lang="ko-KR" altLang="en-US" sz="1400" dirty="0"/>
              <a:t>구매 전으로 돌아갈 수는 없다</a:t>
            </a:r>
            <a:r>
              <a:rPr lang="en-US" altLang="ko-KR" sz="1400" dirty="0"/>
              <a:t>.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F12368C6-5BDE-6A74-3D6B-A348603A4FCA}"/>
              </a:ext>
            </a:extLst>
          </p:cNvPr>
          <p:cNvSpPr/>
          <p:nvPr/>
        </p:nvSpPr>
        <p:spPr>
          <a:xfrm>
            <a:off x="7458363" y="1772143"/>
            <a:ext cx="595746" cy="6754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85F1BFF7-BC8D-235B-5FBB-05F97E9B2FD5}"/>
              </a:ext>
            </a:extLst>
          </p:cNvPr>
          <p:cNvCxnSpPr>
            <a:cxnSpLocks/>
          </p:cNvCxnSpPr>
          <p:nvPr/>
        </p:nvCxnSpPr>
        <p:spPr>
          <a:xfrm flipH="1">
            <a:off x="5250062" y="2447638"/>
            <a:ext cx="2208301" cy="210371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33CC4F49-3351-D40C-A511-A90F99B10BBC}"/>
              </a:ext>
            </a:extLst>
          </p:cNvPr>
          <p:cNvSpPr txBox="1"/>
          <p:nvPr/>
        </p:nvSpPr>
        <p:spPr>
          <a:xfrm>
            <a:off x="5222354" y="5256501"/>
            <a:ext cx="3367464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활성화된 카드 클릭 시</a:t>
            </a:r>
            <a:r>
              <a:rPr lang="en-US" altLang="ko-KR" sz="1400" dirty="0"/>
              <a:t>,</a:t>
            </a:r>
          </a:p>
          <a:p>
            <a:r>
              <a:rPr lang="ko-KR" altLang="en-US" sz="1400" dirty="0"/>
              <a:t>삭제할 카드를 강조하여</a:t>
            </a:r>
            <a:endParaRPr lang="en-US" altLang="ko-KR" sz="1400" dirty="0"/>
          </a:p>
          <a:p>
            <a:r>
              <a:rPr lang="ko-KR" altLang="en-US" sz="1400" dirty="0"/>
              <a:t>띄워주고 제거 여부를 물어봄</a:t>
            </a:r>
            <a:endParaRPr lang="en-US" altLang="ko-KR" sz="1400" dirty="0"/>
          </a:p>
          <a:p>
            <a:r>
              <a:rPr lang="ko-KR" altLang="en-US" sz="1400" dirty="0"/>
              <a:t>취소 </a:t>
            </a:r>
            <a:r>
              <a:rPr lang="en-US" altLang="ko-KR" sz="1400" dirty="0"/>
              <a:t>: </a:t>
            </a:r>
            <a:r>
              <a:rPr lang="ko-KR" altLang="en-US" sz="1400" dirty="0"/>
              <a:t>카드를 클릭하기 전의 </a:t>
            </a:r>
            <a:r>
              <a:rPr lang="en-US" altLang="ko-KR" sz="1400" dirty="0"/>
              <a:t>DELETE </a:t>
            </a:r>
            <a:r>
              <a:rPr lang="ko-KR" altLang="en-US" sz="1400" dirty="0"/>
              <a:t>팝업으로 돌아옴</a:t>
            </a:r>
            <a:endParaRPr lang="en-US" altLang="ko-KR" sz="1400" dirty="0"/>
          </a:p>
          <a:p>
            <a:r>
              <a:rPr lang="ko-KR" altLang="en-US" sz="1400" dirty="0"/>
              <a:t>확인 </a:t>
            </a:r>
            <a:r>
              <a:rPr lang="en-US" altLang="ko-KR" sz="1400" dirty="0"/>
              <a:t>: </a:t>
            </a:r>
            <a:r>
              <a:rPr lang="ko-KR" altLang="en-US" sz="1400" dirty="0"/>
              <a:t>해당 카드 강화 후</a:t>
            </a:r>
            <a:r>
              <a:rPr lang="en-US" altLang="ko-KR" sz="1400" dirty="0"/>
              <a:t>,</a:t>
            </a:r>
            <a:r>
              <a:rPr lang="ko-KR" altLang="en-US" sz="1400" dirty="0"/>
              <a:t> 다음 단계로 넘어 감</a:t>
            </a:r>
            <a:r>
              <a:rPr lang="en-US" altLang="ko-KR" sz="1400" dirty="0"/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D6AFCF8-E1DD-3B85-7561-8D8B5412320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142" y="572655"/>
            <a:ext cx="304678" cy="30467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B47327A-EF12-74DD-372A-AAF8E7E9646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505" y="1840732"/>
            <a:ext cx="296184" cy="296184"/>
          </a:xfrm>
          <a:prstGeom prst="rect">
            <a:avLst/>
          </a:prstGeom>
        </p:spPr>
      </p:pic>
      <p:graphicFrame>
        <p:nvGraphicFramePr>
          <p:cNvPr id="11" name="개체 10">
            <a:extLst>
              <a:ext uri="{FF2B5EF4-FFF2-40B4-BE49-F238E27FC236}">
                <a16:creationId xmlns:a16="http://schemas.microsoft.com/office/drawing/2014/main" id="{8E893AEB-2F1A-C3CE-778E-5A107915E2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0603268"/>
              </p:ext>
            </p:extLst>
          </p:nvPr>
        </p:nvGraphicFramePr>
        <p:xfrm>
          <a:off x="1242609" y="4598390"/>
          <a:ext cx="3863757" cy="2173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10" imgW="25802844" imgH="14514195" progId="Photoshop.Image.26">
                  <p:embed/>
                </p:oleObj>
              </mc:Choice>
              <mc:Fallback>
                <p:oleObj name="Image" r:id="rId10" imgW="25802844" imgH="14514195" progId="Photoshop.Image.26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242609" y="4598390"/>
                        <a:ext cx="3863757" cy="21733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959630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762</TotalTime>
  <Words>1589</Words>
  <Application>Microsoft Office PowerPoint</Application>
  <PresentationFormat>와이드스크린</PresentationFormat>
  <Paragraphs>249</Paragraphs>
  <Slides>13</Slides>
  <Notes>3</Notes>
  <HiddenSlides>0</HiddenSlides>
  <MMClips>0</MMClips>
  <ScaleCrop>false</ScaleCrop>
  <HeadingPairs>
    <vt:vector size="8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7" baseType="lpstr">
      <vt:lpstr>맑은 고딕</vt:lpstr>
      <vt:lpstr>Arial</vt:lpstr>
      <vt:lpstr>Office 테마</vt:lpstr>
      <vt:lpstr>Image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HOME</dc:creator>
  <cp:lastModifiedBy>퓨 체</cp:lastModifiedBy>
  <cp:revision>13</cp:revision>
  <dcterms:created xsi:type="dcterms:W3CDTF">2026-01-12T19:58:29Z</dcterms:created>
  <dcterms:modified xsi:type="dcterms:W3CDTF">2026-05-28T13:47:40Z</dcterms:modified>
</cp:coreProperties>
</file>